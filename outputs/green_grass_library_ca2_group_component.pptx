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8a60ba82644385" /><Relationship Type="http://schemas.openxmlformats.org/officeDocument/2006/relationships/extended-properties" Target="/docProps/app.xml" Id="R4d8045a921844698" /><Relationship Type="http://schemas.openxmlformats.org/officeDocument/2006/relationships/officeDocument" Target="/ppt/presentation.xml" Id="R5d560e33f7824a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2fd1a91c4b4c7c"/>
  </p:sldMasterIdLst>
  <p:notesMasterIdLst>
    <p:notesMasterId xmlns:r="http://schemas.openxmlformats.org/officeDocument/2006/relationships" r:id="Rc6d7fb96d82344ef"/>
  </p:notesMasterIdLst>
  <p:sldIdLst>
    <p:sldId xmlns:r="http://schemas.openxmlformats.org/officeDocument/2006/relationships" id="256" r:id="Rd782d475b3334207"/>
    <p:sldId xmlns:r="http://schemas.openxmlformats.org/officeDocument/2006/relationships" id="257" r:id="R15ab2fe3a3394956"/>
    <p:sldId xmlns:r="http://schemas.openxmlformats.org/officeDocument/2006/relationships" id="258" r:id="R25e3462dbcf543d5"/>
    <p:sldId xmlns:r="http://schemas.openxmlformats.org/officeDocument/2006/relationships" id="259" r:id="Rdf26413c767a4d3d"/>
    <p:sldId xmlns:r="http://schemas.openxmlformats.org/officeDocument/2006/relationships" id="260" r:id="R1a9b00d539674dde"/>
    <p:sldId xmlns:r="http://schemas.openxmlformats.org/officeDocument/2006/relationships" id="261" r:id="R5c29a6bd678f48dd"/>
    <p:sldId xmlns:r="http://schemas.openxmlformats.org/officeDocument/2006/relationships" id="262" r:id="Rf0a2f017ac334ce6"/>
    <p:sldId xmlns:r="http://schemas.openxmlformats.org/officeDocument/2006/relationships" id="263" r:id="Rf4ee93d8497e4e45"/>
    <p:sldId xmlns:r="http://schemas.openxmlformats.org/officeDocument/2006/relationships" id="264" r:id="R03639daffa144933"/>
    <p:sldId xmlns:r="http://schemas.openxmlformats.org/officeDocument/2006/relationships" id="265" r:id="R5144c7e24606477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94859425564257" /><Relationship Type="http://schemas.openxmlformats.org/officeDocument/2006/relationships/slideMaster" Target="/ppt/slideMasters/slideMaster1.xml" Id="R072fd1a91c4b4c7c" /><Relationship Type="http://schemas.openxmlformats.org/officeDocument/2006/relationships/notesMaster" Target="/ppt/notesMasters/notesMaster1.xml" Id="Rc6d7fb96d82344ef" /><Relationship Type="http://schemas.openxmlformats.org/officeDocument/2006/relationships/presProps" Target="/ppt/presProps.xml" Id="Rbcd487df95574371" /><Relationship Type="http://schemas.openxmlformats.org/officeDocument/2006/relationships/tableStyles" Target="/ppt/tableStyles.xml" Id="R33ab471292f146e5" /><Relationship Type="http://schemas.openxmlformats.org/officeDocument/2006/relationships/slide" Target="/ppt/slides/slide1.xml" Id="Rd782d475b3334207" /><Relationship Type="http://schemas.openxmlformats.org/officeDocument/2006/relationships/slide" Target="/ppt/slides/slide2.xml" Id="R15ab2fe3a3394956" /><Relationship Type="http://schemas.openxmlformats.org/officeDocument/2006/relationships/slide" Target="/ppt/slides/slide3.xml" Id="R25e3462dbcf543d5" /><Relationship Type="http://schemas.openxmlformats.org/officeDocument/2006/relationships/slide" Target="/ppt/slides/slide4.xml" Id="Rdf26413c767a4d3d" /><Relationship Type="http://schemas.openxmlformats.org/officeDocument/2006/relationships/slide" Target="/ppt/slides/slide5.xml" Id="R1a9b00d539674dde" /><Relationship Type="http://schemas.openxmlformats.org/officeDocument/2006/relationships/slide" Target="/ppt/slides/slide6.xml" Id="R5c29a6bd678f48dd" /><Relationship Type="http://schemas.openxmlformats.org/officeDocument/2006/relationships/slide" Target="/ppt/slides/slide7.xml" Id="Rf0a2f017ac334ce6" /><Relationship Type="http://schemas.openxmlformats.org/officeDocument/2006/relationships/slide" Target="/ppt/slides/slide8.xml" Id="Rf4ee93d8497e4e45" /><Relationship Type="http://schemas.openxmlformats.org/officeDocument/2006/relationships/slide" Target="/ppt/slides/slide9.xml" Id="R03639daffa144933" /><Relationship Type="http://schemas.openxmlformats.org/officeDocument/2006/relationships/slide" Target="/ppt/slides/slide10.xml" Id="R5144c7e2460647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f9b57a449446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ddf353bbf64ebc" /><Relationship Type="http://schemas.openxmlformats.org/officeDocument/2006/relationships/notesMaster" Target="/ppt/notesMasters/notesMaster1.xml" Id="R3ff2a88512444a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5edecb806a47a1" /><Relationship Type="http://schemas.openxmlformats.org/officeDocument/2006/relationships/notesMaster" Target="/ppt/notesMasters/notesMaster1.xml" Id="Rfeb3123052b047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708c02a2484a3e" /><Relationship Type="http://schemas.openxmlformats.org/officeDocument/2006/relationships/notesMaster" Target="/ppt/notesMasters/notesMaster1.xml" Id="Rd3503830f0804d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c5a356814f4b15" /><Relationship Type="http://schemas.openxmlformats.org/officeDocument/2006/relationships/notesMaster" Target="/ppt/notesMasters/notesMaster1.xml" Id="Rebc0ece61f9a4b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df3b8dfdc94a7c" /><Relationship Type="http://schemas.openxmlformats.org/officeDocument/2006/relationships/notesMaster" Target="/ppt/notesMasters/notesMaster1.xml" Id="R52e0d97724854d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b1662a0f684e93" /><Relationship Type="http://schemas.openxmlformats.org/officeDocument/2006/relationships/notesMaster" Target="/ppt/notesMasters/notesMaster1.xml" Id="Rae7a8829645641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30ed82ff2d4947" /><Relationship Type="http://schemas.openxmlformats.org/officeDocument/2006/relationships/notesMaster" Target="/ppt/notesMasters/notesMaster1.xml" Id="R4ed06a03db2f4d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e6451ce3084c46" /><Relationship Type="http://schemas.openxmlformats.org/officeDocument/2006/relationships/notesMaster" Target="/ppt/notesMasters/notesMaster1.xml" Id="Rd45e95f73a644e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b95bd575bd4644" /><Relationship Type="http://schemas.openxmlformats.org/officeDocument/2006/relationships/notesMaster" Target="/ppt/notesMasters/notesMaster1.xml" Id="R4ee5f5e75bb74e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7aa8daa478458d" /><Relationship Type="http://schemas.openxmlformats.org/officeDocument/2006/relationships/notesMaster" Target="/ppt/notesMasters/notesMaster1.xml" Id="Ra78e145e5a0e4c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038c6488b249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89277aa33f4f02" /><Relationship Type="http://schemas.openxmlformats.org/officeDocument/2006/relationships/slideLayout" Target="/ppt/slideLayouts/slideLayout1.xml" Id="R5845d00ee70340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45d00ee70340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a4e34117b4ef7" /><Relationship Type="http://schemas.openxmlformats.org/officeDocument/2006/relationships/notesSlide" Target="/ppt/notesSlides/notesSlide1.xml" Id="R030cd1c3b32840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8687f1c1c4641" /><Relationship Type="http://schemas.openxmlformats.org/officeDocument/2006/relationships/notesSlide" Target="/ppt/notesSlides/notesSlide2.xml" Id="R0caa3c27c8a943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451ef343c44f5" /><Relationship Type="http://schemas.openxmlformats.org/officeDocument/2006/relationships/notesSlide" Target="/ppt/notesSlides/notesSlide3.xml" Id="Rfa85bfdc42e244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fc1bdb7804458" /><Relationship Type="http://schemas.openxmlformats.org/officeDocument/2006/relationships/notesSlide" Target="/ppt/notesSlides/notesSlide4.xml" Id="R1ebfe14338b146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30bd01555418c" /><Relationship Type="http://schemas.openxmlformats.org/officeDocument/2006/relationships/notesSlide" Target="/ppt/notesSlides/notesSlide5.xml" Id="R136ca498760044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0b8ad9f3e472c" /><Relationship Type="http://schemas.openxmlformats.org/officeDocument/2006/relationships/notesSlide" Target="/ppt/notesSlides/notesSlide6.xml" Id="R00091071198e4c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49e30d6674beb" /><Relationship Type="http://schemas.openxmlformats.org/officeDocument/2006/relationships/notesSlide" Target="/ppt/notesSlides/notesSlide7.xml" Id="Rea12e6e24a164e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6ad23a8584292" /><Relationship Type="http://schemas.openxmlformats.org/officeDocument/2006/relationships/chart" Target="/ppt/slides/charts/chart1.xml" Id="Rf4daf26ea8bf49eb" /><Relationship Type="http://schemas.openxmlformats.org/officeDocument/2006/relationships/notesSlide" Target="/ppt/notesSlides/notesSlide8.xml" Id="R886725da845e48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0193306a5430b" /><Relationship Type="http://schemas.openxmlformats.org/officeDocument/2006/relationships/notesSlide" Target="/ppt/notesSlides/notesSlide9.xml" Id="Rfd815d8cb7e54c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40882484847cb" /><Relationship Type="http://schemas.openxmlformats.org/officeDocument/2006/relationships/notesSlide" Target="/ppt/notesSlides/notesSlide10.xml" Id="R9e79c79121ea457c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Completed loans</c:v>
          </c:tx>
          <c:spPr>
            <a:ln xmlns:a="http://schemas.openxmlformats.org/drawingml/2006/main" w="28575">
              <a:solidFill>
                <a:srgbClr val="1677C8"/>
              </a:solidFill>
              <a:prstDash val="solid"/>
            </a:ln>
          </c:spPr>
          <c:marker>
            <c:symbol val="circle"/>
            <c:size val="5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General</c:formatCode>
              <c:ptCount val="12"/>
              <c:pt idx="0">
                <c:v>175</c:v>
              </c:pt>
              <c:pt idx="1">
                <c:v>214</c:v>
              </c:pt>
              <c:pt idx="2">
                <c:v>258</c:v>
              </c:pt>
              <c:pt idx="3">
                <c:v>253</c:v>
              </c:pt>
              <c:pt idx="4">
                <c:v>283</c:v>
              </c:pt>
              <c:pt idx="5">
                <c:v>414</c:v>
              </c:pt>
              <c:pt idx="6">
                <c:v>404</c:v>
              </c:pt>
              <c:pt idx="7">
                <c:v>542</c:v>
              </c:pt>
              <c:pt idx="8">
                <c:v>538</c:v>
              </c:pt>
              <c:pt idx="9">
                <c:v>689</c:v>
              </c:pt>
              <c:pt idx="10">
                <c:v>1188</c:v>
              </c:pt>
              <c:pt idx="11">
                <c:v>2838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1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6274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5F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6274"/>
                </a:solidFill>
              </a:defRPr>
            </a:pPr>
          </a:p>
        </c:txPr>
        <c:crossAx val="48650112"/>
        <c:crossBetween val="between"/>
        <c:majorUnit val="5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ccent-bar">
            <a:extLst xmlns:a="http://schemas.openxmlformats.org/drawingml/2006/main">
              <a:ext uri="{FF2B5EF4-FFF2-40B4-BE49-F238E27FC236}">
                <a16:creationId xmlns:a16="http://schemas.microsoft.com/office/drawing/2014/main" id="{02306BEA-C2D9-4864-866E-CEE9B345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solidFill>
              <a:srgbClr val="1677C8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2FE1E05A-18A0-4F32-B5C9-2385F6E6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ST1501 DATA ENGINEERING CA2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72FE349-6490-40A5-9EC4-A9220E7B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6685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Green Grass Library</a:t>
            </a:r>
          </a:p>
          <a:p xmlns:a="http://schemas.openxmlformats.org/drawingml/2006/main">
            <a:pPr algn="l">
              <a:defRPr sz="39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Data Engineering CA2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A7C8538-27F6-4A4A-BDB6-E2148867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Group component: operational data, warehouse design and analytical insights</a:t>
            </a:r>
          </a:p>
        </p:txBody>
      </p:sp>
      <p:sp>
        <p:nvSpPr>
          <p:cNvPr id="5" name="cover-names-heading">
            <a:extLst xmlns:a="http://schemas.openxmlformats.org/drawingml/2006/main">
              <a:ext uri="{FF2B5EF4-FFF2-40B4-BE49-F238E27FC236}">
                <a16:creationId xmlns:a16="http://schemas.microsoft.com/office/drawing/2014/main" id="{8479C135-9CAA-4A30-82EE-CA814A95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9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6" name="cover-names">
            <a:extLst xmlns:a="http://schemas.openxmlformats.org/drawingml/2006/main">
              <a:ext uri="{FF2B5EF4-FFF2-40B4-BE49-F238E27FC236}">
                <a16:creationId xmlns:a16="http://schemas.microsoft.com/office/drawing/2014/main" id="{1F67A779-F878-4274-BE9A-7D5DD549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285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Ang Wei Chong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Chin Guan Chung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Hannah How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Kendrick Slamat</a:t>
            </a:r>
          </a:p>
        </p:txBody>
      </p:sp>
      <p:sp>
        <p:nvSpPr>
          <p:cNvPr id="7" name="cover-journey">
            <a:extLst xmlns:a="http://schemas.openxmlformats.org/drawingml/2006/main">
              <a:ext uri="{FF2B5EF4-FFF2-40B4-BE49-F238E27FC236}">
                <a16:creationId xmlns:a16="http://schemas.microsoft.com/office/drawing/2014/main" id="{2BF6A82D-F5D8-45A1-AB0B-555BE082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314450"/>
            <a:ext cx="3905250" cy="392430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0">
            <a:solidFill>
              <a:srgbClr val="F2F5F8"/>
            </a:solidFill>
            <a:prstDash val="solid"/>
          </a:ln>
        </p:spPr>
      </p:sp>
      <p:sp>
        <p:nvSpPr>
          <p:cNvPr id="8" name="cover-scope">
            <a:extLst xmlns:a="http://schemas.openxmlformats.org/drawingml/2006/main">
              <a:ext uri="{FF2B5EF4-FFF2-40B4-BE49-F238E27FC236}">
                <a16:creationId xmlns:a16="http://schemas.microsoft.com/office/drawing/2014/main" id="{7908B29C-28EE-4AAC-942C-B4204E15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907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GROUP COMPONENT</a:t>
            </a:r>
          </a:p>
          <a:p xmlns:a="http://schemas.openxmlformats.org/drawingml/2006/main">
            <a:pPr algn="ctr">
              <a:defRPr sz="210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TASKS A–D</a:t>
            </a:r>
          </a:p>
        </p:txBody>
      </p:sp>
      <p:sp>
        <p:nvSpPr>
          <p:cNvPr id="9" name="rule-808-294">
            <a:extLst xmlns:a="http://schemas.openxmlformats.org/drawingml/2006/main">
              <a:ext uri="{FF2B5EF4-FFF2-40B4-BE49-F238E27FC236}">
                <a16:creationId xmlns:a16="http://schemas.microsoft.com/office/drawing/2014/main" id="{A8C54121-BEC5-44F0-86A7-A17561DE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00350"/>
            <a:ext cx="2619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B9EA"/>
          </a:solidFill>
          <a:ln xmlns:a="http://schemas.openxmlformats.org/drawingml/2006/main" w="0">
            <a:solidFill>
              <a:srgbClr val="78B9EA"/>
            </a:solidFill>
            <a:prstDash val="solid"/>
          </a:ln>
        </p:spPr>
      </p:sp>
      <p:sp>
        <p:nvSpPr>
          <p:cNvPr id="10" name="cover-flow">
            <a:extLst xmlns:a="http://schemas.openxmlformats.org/drawingml/2006/main">
              <a:ext uri="{FF2B5EF4-FFF2-40B4-BE49-F238E27FC236}">
                <a16:creationId xmlns:a16="http://schemas.microsoft.com/office/drawing/2014/main" id="{18480157-3B00-4382-A08A-51B884E0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295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Clean source data</a:t>
            </a:r>
          </a:p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Operational database</a:t>
            </a:r>
          </a:p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Star-schema warehouse</a:t>
            </a:r>
          </a:p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Business insights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574B7953-3E1A-4DA2-AB9C-D64BAB99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81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Green Grass Library | Group 2B21-04</a:t>
            </a:r>
          </a:p>
        </p:txBody>
      </p:sp>
    </p:spTree>
    <p:extLst>
      <p:ext uri="{BB962C8B-B14F-4D97-AF65-F5344CB8AC3E}">
        <p14:creationId xmlns:p14="http://schemas.microsoft.com/office/powerpoint/2010/main" val="15829921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2">
            <a:extLst xmlns:a="http://schemas.openxmlformats.org/drawingml/2006/main">
              <a:ext uri="{FF2B5EF4-FFF2-40B4-BE49-F238E27FC236}">
                <a16:creationId xmlns:a16="http://schemas.microsoft.com/office/drawing/2014/main" id="{40934083-B54E-4339-BB0C-F49A56AF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36D7069-DD1C-40F5-88A0-DBDD52F9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19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 trusted analytics pipeline starts with trusted operational data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05F7E071-9C52-444E-8475-AA922A7D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Scope: group tasks a–d only</a:t>
            </a:r>
          </a:p>
        </p:txBody>
      </p:sp>
      <p:sp>
        <p:nvSpPr>
          <p:cNvPr id="4" name="rule-72-210">
            <a:extLst xmlns:a="http://schemas.openxmlformats.org/drawingml/2006/main">
              <a:ext uri="{FF2B5EF4-FFF2-40B4-BE49-F238E27FC236}">
                <a16:creationId xmlns:a16="http://schemas.microsoft.com/office/drawing/2014/main" id="{BC9334D3-FA1A-43D2-802E-971ADB56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solidFill>
              <a:srgbClr val="1677C8"/>
            </a:solidFill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3EB8834E-B7B4-4D38-99F0-2A173BDE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Green Grass Library | ST1501 Data Engineering CA2 | Group component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8DE92137-5DF5-4714-8B7C-DBC5AFB6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intro-lead">
            <a:extLst xmlns:a="http://schemas.openxmlformats.org/drawingml/2006/main">
              <a:ext uri="{FF2B5EF4-FFF2-40B4-BE49-F238E27FC236}">
                <a16:creationId xmlns:a16="http://schemas.microsoft.com/office/drawing/2014/main" id="{20287904-AE3D-4476-84FA-56E1281E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library needed a reliable way to move from daily circulation records to analysis of borrowing activity, duration and lateness.</a:t>
            </a:r>
          </a:p>
        </p:txBody>
      </p:sp>
      <p:sp>
        <p:nvSpPr>
          <p:cNvPr id="8" name="intro-box-0">
            <a:extLst xmlns:a="http://schemas.openxmlformats.org/drawingml/2006/main">
              <a:ext uri="{FF2B5EF4-FFF2-40B4-BE49-F238E27FC236}">
                <a16:creationId xmlns:a16="http://schemas.microsoft.com/office/drawing/2014/main" id="{8CFE1C81-A5A2-4667-BE16-FD2DC920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0670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0">
            <a:solidFill>
              <a:srgbClr val="F2F5F8"/>
            </a:solidFill>
            <a:prstDash val="solid"/>
          </a:ln>
        </p:spPr>
      </p:sp>
      <p:sp>
        <p:nvSpPr>
          <p:cNvPr id="9" name="intro-head-0">
            <a:extLst xmlns:a="http://schemas.openxmlformats.org/drawingml/2006/main">
              <a:ext uri="{FF2B5EF4-FFF2-40B4-BE49-F238E27FC236}">
                <a16:creationId xmlns:a16="http://schemas.microsoft.com/office/drawing/2014/main" id="{7F501917-B5A9-44CA-8E79-90ED9684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Source data</a:t>
            </a:r>
          </a:p>
        </p:txBody>
      </p:sp>
      <p:sp>
        <p:nvSpPr>
          <p:cNvPr id="10" name="intro-body-0">
            <a:extLst xmlns:a="http://schemas.openxmlformats.org/drawingml/2006/main">
              <a:ext uri="{FF2B5EF4-FFF2-40B4-BE49-F238E27FC236}">
                <a16:creationId xmlns:a16="http://schemas.microsoft.com/office/drawing/2014/main" id="{796B699C-AFFB-4E6A-8D6C-A1C7F7B1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2647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Membership policy document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Staff CSV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Workbook with members, books, copies and loans</a:t>
            </a:r>
          </a:p>
        </p:txBody>
      </p:sp>
      <p:sp>
        <p:nvSpPr>
          <p:cNvPr id="11" name="intro-box-1">
            <a:extLst xmlns:a="http://schemas.openxmlformats.org/drawingml/2006/main">
              <a:ext uri="{FF2B5EF4-FFF2-40B4-BE49-F238E27FC236}">
                <a16:creationId xmlns:a16="http://schemas.microsoft.com/office/drawing/2014/main" id="{CE5255BB-CE74-4E1F-8079-7E67BE42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38550"/>
            <a:ext cx="30670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D9EEFC"/>
          </a:solidFill>
          <a:ln xmlns:a="http://schemas.openxmlformats.org/drawingml/2006/main" w="0">
            <a:solidFill>
              <a:srgbClr val="F2F5F8"/>
            </a:solidFill>
            <a:prstDash val="solid"/>
          </a:ln>
        </p:spPr>
      </p:sp>
      <p:sp>
        <p:nvSpPr>
          <p:cNvPr id="12" name="intro-head-1">
            <a:extLst xmlns:a="http://schemas.openxmlformats.org/drawingml/2006/main">
              <a:ext uri="{FF2B5EF4-FFF2-40B4-BE49-F238E27FC236}">
                <a16:creationId xmlns:a16="http://schemas.microsoft.com/office/drawing/2014/main" id="{59F853F9-9CD2-4866-A1AA-0CBF27EF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052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Operational layer</a:t>
            </a:r>
          </a:p>
        </p:txBody>
      </p:sp>
      <p:sp>
        <p:nvSpPr>
          <p:cNvPr id="13" name="intro-body-1">
            <a:extLst xmlns:a="http://schemas.openxmlformats.org/drawingml/2006/main">
              <a:ext uri="{FF2B5EF4-FFF2-40B4-BE49-F238E27FC236}">
                <a16:creationId xmlns:a16="http://schemas.microsoft.com/office/drawing/2014/main" id="{DE430A24-AFFD-47C8-A01A-B9BF7AF4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00550"/>
            <a:ext cx="2647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Clean and load the supplied OLTP schema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Enforce keys and referential integrity</a:t>
            </a:r>
          </a:p>
        </p:txBody>
      </p:sp>
      <p:sp>
        <p:nvSpPr>
          <p:cNvPr id="14" name="intro-box-2">
            <a:extLst xmlns:a="http://schemas.openxmlformats.org/drawingml/2006/main">
              <a:ext uri="{FF2B5EF4-FFF2-40B4-BE49-F238E27FC236}">
                <a16:creationId xmlns:a16="http://schemas.microsoft.com/office/drawing/2014/main" id="{B38041BA-224A-4284-8A6B-37A87AC1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38550"/>
            <a:ext cx="30670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0">
            <a:solidFill>
              <a:srgbClr val="F2F5F8"/>
            </a:solidFill>
            <a:prstDash val="solid"/>
          </a:ln>
        </p:spPr>
      </p:sp>
      <p:sp>
        <p:nvSpPr>
          <p:cNvPr id="15" name="intro-head-2">
            <a:extLst xmlns:a="http://schemas.openxmlformats.org/drawingml/2006/main">
              <a:ext uri="{FF2B5EF4-FFF2-40B4-BE49-F238E27FC236}">
                <a16:creationId xmlns:a16="http://schemas.microsoft.com/office/drawing/2014/main" id="{A89A565A-D446-42A8-8F31-62758A70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052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Analytical layer</a:t>
            </a:r>
          </a:p>
        </p:txBody>
      </p:sp>
      <p:sp>
        <p:nvSpPr>
          <p:cNvPr id="16" name="intro-body-2">
            <a:extLst xmlns:a="http://schemas.openxmlformats.org/drawingml/2006/main">
              <a:ext uri="{FF2B5EF4-FFF2-40B4-BE49-F238E27FC236}">
                <a16:creationId xmlns:a16="http://schemas.microsoft.com/office/drawing/2014/main" id="{8A023042-B4EC-4F46-9DF6-8D3EBEDD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00550"/>
            <a:ext cx="2647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Build a star schema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Analyse completed loan transactions</a:t>
            </a:r>
          </a:p>
        </p:txBody>
      </p:sp>
    </p:spTree>
    <p:extLst>
      <p:ext uri="{BB962C8B-B14F-4D97-AF65-F5344CB8AC3E}">
        <p14:creationId xmlns:p14="http://schemas.microsoft.com/office/powerpoint/2010/main" val="3929291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3">
            <a:extLst xmlns:a="http://schemas.openxmlformats.org/drawingml/2006/main">
              <a:ext uri="{FF2B5EF4-FFF2-40B4-BE49-F238E27FC236}">
                <a16:creationId xmlns:a16="http://schemas.microsoft.com/office/drawing/2014/main" id="{E4284FDD-107D-4B69-A3C3-0B56998E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CE9A525-80A7-4A91-87DE-1F0B1601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19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Cleaning made the source data loadable and reliable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2FC17A2D-FCE4-4BB5-B6F9-4317F8AF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Every correction was recorded with its rationale and affected rows</a:t>
            </a:r>
          </a:p>
        </p:txBody>
      </p:sp>
      <p:sp>
        <p:nvSpPr>
          <p:cNvPr id="4" name="rule-72-210">
            <a:extLst xmlns:a="http://schemas.openxmlformats.org/drawingml/2006/main">
              <a:ext uri="{FF2B5EF4-FFF2-40B4-BE49-F238E27FC236}">
                <a16:creationId xmlns:a16="http://schemas.microsoft.com/office/drawing/2014/main" id="{A9D678C4-E4B2-48B6-8399-6A16E6CD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solidFill>
              <a:srgbClr val="1677C8"/>
            </a:solidFill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5376C862-26AA-4AAB-A636-3861F826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Green Grass Library | ST1501 Data Engineering CA2 | Group component</a:t>
            </a: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F1103012-30E0-448A-B459-1BF3BBED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problem-card-0">
            <a:extLst xmlns:a="http://schemas.openxmlformats.org/drawingml/2006/main">
              <a:ext uri="{FF2B5EF4-FFF2-40B4-BE49-F238E27FC236}">
                <a16:creationId xmlns:a16="http://schemas.microsoft.com/office/drawing/2014/main" id="{A3BDDAEE-0EC9-44E7-BD57-AEAE75B6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31051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0">
            <a:solidFill>
              <a:srgbClr val="F2F5F8"/>
            </a:solidFill>
            <a:prstDash val="solid"/>
          </a:ln>
        </p:spPr>
      </p:sp>
      <p:sp>
        <p:nvSpPr>
          <p:cNvPr id="8" name="problem-num-0">
            <a:extLst xmlns:a="http://schemas.openxmlformats.org/drawingml/2006/main">
              <a:ext uri="{FF2B5EF4-FFF2-40B4-BE49-F238E27FC236}">
                <a16:creationId xmlns:a16="http://schemas.microsoft.com/office/drawing/2014/main" id="{4A719C04-7455-495D-B445-8B2EFF21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problem-head-0">
            <a:extLst xmlns:a="http://schemas.openxmlformats.org/drawingml/2006/main">
              <a:ext uri="{FF2B5EF4-FFF2-40B4-BE49-F238E27FC236}">
                <a16:creationId xmlns:a16="http://schemas.microsoft.com/office/drawing/2014/main" id="{E5F31149-BC61-4FB2-A3D9-77B60140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5625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Standardise formats</a:t>
            </a:r>
          </a:p>
        </p:txBody>
      </p:sp>
      <p:sp>
        <p:nvSpPr>
          <p:cNvPr id="10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1DC52B5F-6033-47BB-B396-80A13865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81425"/>
            <a:ext cx="2628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Tier ID typo fixed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Gender mapped to CHAR(1)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One datetime normalised to a date</a:t>
            </a:r>
          </a:p>
        </p:txBody>
      </p:sp>
      <p:sp>
        <p:nvSpPr>
          <p:cNvPr id="11" name="problem-card-1">
            <a:extLst xmlns:a="http://schemas.openxmlformats.org/drawingml/2006/main">
              <a:ext uri="{FF2B5EF4-FFF2-40B4-BE49-F238E27FC236}">
                <a16:creationId xmlns:a16="http://schemas.microsoft.com/office/drawing/2014/main" id="{F5E6E127-B196-4394-934F-67142A12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28875"/>
            <a:ext cx="31051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9EEFC"/>
          </a:solidFill>
          <a:ln xmlns:a="http://schemas.openxmlformats.org/drawingml/2006/main" w="0">
            <a:solidFill>
              <a:srgbClr val="F2F5F8"/>
            </a:solidFill>
            <a:prstDash val="solid"/>
          </a:ln>
        </p:spPr>
      </p:sp>
      <p:sp>
        <p:nvSpPr>
          <p:cNvPr id="12" name="problem-num-1">
            <a:extLst xmlns:a="http://schemas.openxmlformats.org/drawingml/2006/main">
              <a:ext uri="{FF2B5EF4-FFF2-40B4-BE49-F238E27FC236}">
                <a16:creationId xmlns:a16="http://schemas.microsoft.com/office/drawing/2014/main" id="{14FB875D-1136-4E0B-84B5-D9E0F342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problem-head-1">
            <a:extLst xmlns:a="http://schemas.openxmlformats.org/drawingml/2006/main">
              <a:ext uri="{FF2B5EF4-FFF2-40B4-BE49-F238E27FC236}">
                <a16:creationId xmlns:a16="http://schemas.microsoft.com/office/drawing/2014/main" id="{10F47E12-59DD-44B4-9A69-5A5744F5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Protect integrity</a:t>
            </a:r>
          </a:p>
        </p:txBody>
      </p:sp>
      <p:sp>
        <p:nvSpPr>
          <p:cNvPr id="14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685E167F-8120-46D6-971A-8CFD53C4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81425"/>
            <a:ext cx="2628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One invalid loan removed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4 misspelled copy statuses fixed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Open-loan copy status corrected</a:t>
            </a:r>
          </a:p>
        </p:txBody>
      </p:sp>
      <p:sp>
        <p:nvSpPr>
          <p:cNvPr id="15" name="problem-card-2">
            <a:extLst xmlns:a="http://schemas.openxmlformats.org/drawingml/2006/main">
              <a:ext uri="{FF2B5EF4-FFF2-40B4-BE49-F238E27FC236}">
                <a16:creationId xmlns:a16="http://schemas.microsoft.com/office/drawing/2014/main" id="{415B175A-9A71-4900-87D5-A2CE237A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31051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0">
            <a:solidFill>
              <a:srgbClr val="F2F5F8"/>
            </a:solidFill>
            <a:prstDash val="solid"/>
          </a:ln>
        </p:spPr>
      </p:sp>
      <p:sp>
        <p:nvSpPr>
          <p:cNvPr id="16" name="problem-num-2">
            <a:extLst xmlns:a="http://schemas.openxmlformats.org/drawingml/2006/main">
              <a:ext uri="{FF2B5EF4-FFF2-40B4-BE49-F238E27FC236}">
                <a16:creationId xmlns:a16="http://schemas.microsoft.com/office/drawing/2014/main" id="{883ADFB6-D413-48B4-A13E-EAC8D4F5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670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problem-head-2">
            <a:extLst xmlns:a="http://schemas.openxmlformats.org/drawingml/2006/main">
              <a:ext uri="{FF2B5EF4-FFF2-40B4-BE49-F238E27FC236}">
                <a16:creationId xmlns:a16="http://schemas.microsoft.com/office/drawing/2014/main" id="{792AEE18-15D5-4E65-AEF0-C98A50C9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95625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Handle uncertainty honestly</a:t>
            </a:r>
          </a:p>
        </p:txBody>
      </p:sp>
      <p:sp>
        <p:nvSpPr>
          <p:cNvPr id="18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518C7921-5F1B-4D43-ADE6-A7CEFCDE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81425"/>
            <a:ext cx="2628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43 missing occupations kept NULL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7 missing loan-status values derived from return data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One questionable staff gender flagged</a:t>
            </a:r>
          </a:p>
        </p:txBody>
      </p:sp>
      <p:sp>
        <p:nvSpPr>
          <p:cNvPr id="19" name="problem-takeaway">
            <a:extLst xmlns:a="http://schemas.openxmlformats.org/drawingml/2006/main">
              <a:ext uri="{FF2B5EF4-FFF2-40B4-BE49-F238E27FC236}">
                <a16:creationId xmlns:a16="http://schemas.microsoft.com/office/drawing/2014/main" id="{4800159B-919D-448F-A0BC-03DDCE92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Result: the load is reproducible, explainable and compatible with the provided OLTP table specifications.</a:t>
            </a:r>
          </a:p>
        </p:txBody>
      </p:sp>
      <p:sp>
        <p:nvSpPr>
          <p:cNvPr id="20" name="source-evidence-frame">
            <a:extLst xmlns:a="http://schemas.openxmlformats.org/drawingml/2006/main">
              <a:ext uri="{FF2B5EF4-FFF2-40B4-BE49-F238E27FC236}">
                <a16:creationId xmlns:a16="http://schemas.microsoft.com/office/drawing/2014/main" id="{355BA337-A992-46D8-96CE-A902C380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19700"/>
            <a:ext cx="195262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78B9EA"/>
            </a:solidFill>
            <a:prstDash val="solid"/>
          </a:ln>
        </p:spPr>
      </p:sp>
      <p:sp>
        <p:nvSpPr>
          <p:cNvPr id="21" name="source-evidence-label">
            <a:extLst xmlns:a="http://schemas.openxmlformats.org/drawingml/2006/main">
              <a:ext uri="{FF2B5EF4-FFF2-40B4-BE49-F238E27FC236}">
                <a16:creationId xmlns:a16="http://schemas.microsoft.com/office/drawing/2014/main" id="{7D65E9ED-31B7-4249-BA23-ACCCC2DE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8162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Data-quality evidence</a:t>
            </a:r>
          </a:p>
        </p:txBody>
      </p:sp>
      <p:sp>
        <p:nvSpPr>
          <p:cNvPr id="22" name="source-evidence-detail">
            <a:extLst xmlns:a="http://schemas.openxmlformats.org/drawingml/2006/main">
              <a:ext uri="{FF2B5EF4-FFF2-40B4-BE49-F238E27FC236}">
                <a16:creationId xmlns:a16="http://schemas.microsoft.com/office/drawing/2014/main" id="{B472E31A-282F-4A6A-9098-11324398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67375"/>
            <a:ext cx="1666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Cleaning-log image</a:t>
            </a:r>
          </a:p>
        </p:txBody>
      </p:sp>
    </p:spTree>
    <p:extLst>
      <p:ext uri="{BB962C8B-B14F-4D97-AF65-F5344CB8AC3E}">
        <p14:creationId xmlns:p14="http://schemas.microsoft.com/office/powerpoint/2010/main" val="15382361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4">
            <a:extLst xmlns:a="http://schemas.openxmlformats.org/drawingml/2006/main">
              <a:ext uri="{FF2B5EF4-FFF2-40B4-BE49-F238E27FC236}">
                <a16:creationId xmlns:a16="http://schemas.microsoft.com/office/drawing/2014/main" id="{86FD5440-0555-4952-A303-9C12F0C0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FC0957A-D0C7-46DD-AC40-B569FA47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19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OLTP model captures each daily library operation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576417EC-B369-4D0D-A827-3FA46A7D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Relational structure for members, staff, books, copies and loans</a:t>
            </a:r>
          </a:p>
        </p:txBody>
      </p:sp>
      <p:sp>
        <p:nvSpPr>
          <p:cNvPr id="4" name="rule-72-210">
            <a:extLst xmlns:a="http://schemas.openxmlformats.org/drawingml/2006/main">
              <a:ext uri="{FF2B5EF4-FFF2-40B4-BE49-F238E27FC236}">
                <a16:creationId xmlns:a16="http://schemas.microsoft.com/office/drawing/2014/main" id="{F074A97C-7BE2-45DC-9D5F-D48D02D2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solidFill>
              <a:srgbClr val="1677C8"/>
            </a:solidFill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A1056E24-5245-44DE-A505-6F634AA0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Green Grass Library | ST1501 Data Engineering CA2 | Group component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9F4A79B4-709C-43CC-86DA-02BE2385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oltp-lead">
            <a:extLst xmlns:a="http://schemas.openxmlformats.org/drawingml/2006/main">
              <a:ext uri="{FF2B5EF4-FFF2-40B4-BE49-F238E27FC236}">
                <a16:creationId xmlns:a16="http://schemas.microsoft.com/office/drawing/2014/main" id="{6E33E495-F72A-4746-8337-06D8BB06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000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We used the supplied CREATE statements without changing the OLTP schema, then transformed the data to satisfy its keys and constraints.</a:t>
            </a:r>
          </a:p>
        </p:txBody>
      </p:sp>
      <p:sp>
        <p:nvSpPr>
          <p:cNvPr id="8" name="oltp-b1-dot">
            <a:extLst xmlns:a="http://schemas.openxmlformats.org/drawingml/2006/main">
              <a:ext uri="{FF2B5EF4-FFF2-40B4-BE49-F238E27FC236}">
                <a16:creationId xmlns:a16="http://schemas.microsoft.com/office/drawing/2014/main" id="{49211CD6-63BF-4385-A1D5-47DE6691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oltp-b1-text">
            <a:extLst xmlns:a="http://schemas.openxmlformats.org/drawingml/2006/main">
              <a:ext uri="{FF2B5EF4-FFF2-40B4-BE49-F238E27FC236}">
                <a16:creationId xmlns:a16="http://schemas.microsoft.com/office/drawing/2014/main" id="{25208BE1-A0D5-42B3-9D14-8FE9D6CA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0995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Core tables: MembershipTier, Member, Staff, Book, BookCopy and Loan.</a:t>
            </a:r>
          </a:p>
        </p:txBody>
      </p:sp>
      <p:sp>
        <p:nvSpPr>
          <p:cNvPr id="10" name="oltp-b2-dot">
            <a:extLst xmlns:a="http://schemas.openxmlformats.org/drawingml/2006/main">
              <a:ext uri="{FF2B5EF4-FFF2-40B4-BE49-F238E27FC236}">
                <a16:creationId xmlns:a16="http://schemas.microsoft.com/office/drawing/2014/main" id="{423C4BF5-D773-422A-9684-35F40C0A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oltp-b2-text">
            <a:extLst xmlns:a="http://schemas.openxmlformats.org/drawingml/2006/main">
              <a:ext uri="{FF2B5EF4-FFF2-40B4-BE49-F238E27FC236}">
                <a16:creationId xmlns:a16="http://schemas.microsoft.com/office/drawing/2014/main" id="{7FC4282A-D7AE-4C71-A55D-5576AD0D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98145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BookCopy identifies each physical copy; Loan records the member, staff member, copy and timestamps.</a:t>
            </a:r>
          </a:p>
        </p:txBody>
      </p:sp>
      <p:sp>
        <p:nvSpPr>
          <p:cNvPr id="12" name="oltp-b3-dot">
            <a:extLst xmlns:a="http://schemas.openxmlformats.org/drawingml/2006/main">
              <a:ext uri="{FF2B5EF4-FFF2-40B4-BE49-F238E27FC236}">
                <a16:creationId xmlns:a16="http://schemas.microsoft.com/office/drawing/2014/main" id="{EDA90F5A-113E-4EC5-9DA2-8EFD75EA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oltp-b3-text">
            <a:extLst xmlns:a="http://schemas.openxmlformats.org/drawingml/2006/main">
              <a:ext uri="{FF2B5EF4-FFF2-40B4-BE49-F238E27FC236}">
                <a16:creationId xmlns:a16="http://schemas.microsoft.com/office/drawing/2014/main" id="{6C4D15FF-4BD1-476B-8965-2D35825C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66725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cleaning pipeline generated repeatable INSERT statements for the final load.</a:t>
            </a:r>
          </a:p>
        </p:txBody>
      </p:sp>
      <p:sp>
        <p:nvSpPr>
          <p:cNvPr id="14" name="oltp-caption">
            <a:extLst xmlns:a="http://schemas.openxmlformats.org/drawingml/2006/main">
              <a:ext uri="{FF2B5EF4-FFF2-40B4-BE49-F238E27FC236}">
                <a16:creationId xmlns:a16="http://schemas.microsoft.com/office/drawing/2014/main" id="{8BC3D511-32DE-416F-AF2A-4BA112BD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Operational database: CA22B2104</a:t>
            </a:r>
          </a:p>
        </p:txBody>
      </p:sp>
      <p:sp>
        <p:nvSpPr>
          <p:cNvPr id="15" name="oltp-erd-frame">
            <a:extLst xmlns:a="http://schemas.openxmlformats.org/drawingml/2006/main">
              <a:ext uri="{FF2B5EF4-FFF2-40B4-BE49-F238E27FC236}">
                <a16:creationId xmlns:a16="http://schemas.microsoft.com/office/drawing/2014/main" id="{CE653FA7-8A37-42BD-A903-019538A1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09800"/>
            <a:ext cx="4953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78B9EA"/>
            </a:solidFill>
            <a:prstDash val="solid"/>
          </a:ln>
        </p:spPr>
      </p:sp>
      <p:sp>
        <p:nvSpPr>
          <p:cNvPr id="16" name="oltp-erd-label">
            <a:extLst xmlns:a="http://schemas.openxmlformats.org/drawingml/2006/main">
              <a:ext uri="{FF2B5EF4-FFF2-40B4-BE49-F238E27FC236}">
                <a16:creationId xmlns:a16="http://schemas.microsoft.com/office/drawing/2014/main" id="{0AEE1A08-8931-4EB3-808D-665CA791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9555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OLTP ERD</a:t>
            </a:r>
          </a:p>
        </p:txBody>
      </p:sp>
      <p:sp>
        <p:nvSpPr>
          <p:cNvPr id="17" name="oltp-erd-detail">
            <a:extLst xmlns:a="http://schemas.openxmlformats.org/drawingml/2006/main">
              <a:ext uri="{FF2B5EF4-FFF2-40B4-BE49-F238E27FC236}">
                <a16:creationId xmlns:a16="http://schemas.microsoft.com/office/drawing/2014/main" id="{2326A748-E1AE-493B-985F-296496C9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90850"/>
            <a:ext cx="4191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MySQL Workbench diagram of the relational operational model</a:t>
            </a:r>
          </a:p>
        </p:txBody>
      </p:sp>
      <p:sp>
        <p:nvSpPr>
          <p:cNvPr id="18" name="oltp-erd-caption">
            <a:extLst xmlns:a="http://schemas.openxmlformats.org/drawingml/2006/main">
              <a:ext uri="{FF2B5EF4-FFF2-40B4-BE49-F238E27FC236}">
                <a16:creationId xmlns:a16="http://schemas.microsoft.com/office/drawing/2014/main" id="{23834973-0505-48C2-A4B6-100F507E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62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OLTP ERD</a:t>
            </a:r>
          </a:p>
        </p:txBody>
      </p:sp>
    </p:spTree>
    <p:extLst>
      <p:ext uri="{BB962C8B-B14F-4D97-AF65-F5344CB8AC3E}">
        <p14:creationId xmlns:p14="http://schemas.microsoft.com/office/powerpoint/2010/main" val="6037931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5">
            <a:extLst xmlns:a="http://schemas.openxmlformats.org/drawingml/2006/main">
              <a:ext uri="{FF2B5EF4-FFF2-40B4-BE49-F238E27FC236}">
                <a16:creationId xmlns:a16="http://schemas.microsoft.com/office/drawing/2014/main" id="{7DE3E657-C121-438B-BD4D-F294F4BB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77806AE-ED68-476D-8EEE-29922E66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19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 star schema centres each completed loan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8F632831-4351-4072-9818-90C85905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One FactLoan row represents one borrowed-and-returned physical copy</a:t>
            </a:r>
          </a:p>
        </p:txBody>
      </p:sp>
      <p:sp>
        <p:nvSpPr>
          <p:cNvPr id="4" name="rule-72-210">
            <a:extLst xmlns:a="http://schemas.openxmlformats.org/drawingml/2006/main">
              <a:ext uri="{FF2B5EF4-FFF2-40B4-BE49-F238E27FC236}">
                <a16:creationId xmlns:a16="http://schemas.microsoft.com/office/drawing/2014/main" id="{5F0BEED7-CBAE-4D0E-A43A-F35D852D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solidFill>
              <a:srgbClr val="1677C8"/>
            </a:solidFill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577DF64A-55E8-4F64-88E2-9285B75D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Green Grass Library | ST1501 Data Engineering CA2 | Group component</a:t>
            </a: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BACF2287-F42F-46CE-9F39-42350A94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dw-design-note">
            <a:extLst xmlns:a="http://schemas.openxmlformats.org/drawingml/2006/main">
              <a:ext uri="{FF2B5EF4-FFF2-40B4-BE49-F238E27FC236}">
                <a16:creationId xmlns:a16="http://schemas.microsoft.com/office/drawing/2014/main" id="{E0DD945C-CAC8-440F-A02C-91CB3F7D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Surrogate keys simplify joins. DimDate connects once to FactLoan through BorrowDateKey.</a:t>
            </a:r>
          </a:p>
        </p:txBody>
      </p:sp>
      <p:sp>
        <p:nvSpPr>
          <p:cNvPr id="8" name="factloan-node">
            <a:extLst xmlns:a="http://schemas.openxmlformats.org/drawingml/2006/main">
              <a:ext uri="{FF2B5EF4-FFF2-40B4-BE49-F238E27FC236}">
                <a16:creationId xmlns:a16="http://schemas.microsoft.com/office/drawing/2014/main" id="{CEFD5DEE-93A9-44A7-8A0D-D1504FFF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2000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9EEFC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9" name="dimdate-node">
            <a:extLst xmlns:a="http://schemas.openxmlformats.org/drawingml/2006/main">
              <a:ext uri="{FF2B5EF4-FFF2-40B4-BE49-F238E27FC236}">
                <a16:creationId xmlns:a16="http://schemas.microsoft.com/office/drawing/2014/main" id="{164D6927-8021-403A-8483-61FA4B02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10" name="dimmember-node">
            <a:extLst xmlns:a="http://schemas.openxmlformats.org/drawingml/2006/main">
              <a:ext uri="{FF2B5EF4-FFF2-40B4-BE49-F238E27FC236}">
                <a16:creationId xmlns:a16="http://schemas.microsoft.com/office/drawing/2014/main" id="{2764B873-E31B-43CE-B4D3-0B31563E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11" name="dimbook-node">
            <a:extLst xmlns:a="http://schemas.openxmlformats.org/drawingml/2006/main">
              <a:ext uri="{FF2B5EF4-FFF2-40B4-BE49-F238E27FC236}">
                <a16:creationId xmlns:a16="http://schemas.microsoft.com/office/drawing/2014/main" id="{3C984F48-3ECA-4052-8EBA-06006392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sp>
        <p:nvSpPr>
          <p:cNvPr id="12" name="dimstaff-node">
            <a:extLst xmlns:a="http://schemas.openxmlformats.org/drawingml/2006/main">
              <a:ext uri="{FF2B5EF4-FFF2-40B4-BE49-F238E27FC236}">
                <a16:creationId xmlns:a16="http://schemas.microsoft.com/office/drawing/2014/main" id="{8A1A883F-1F26-4614-BBAB-C954321F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9105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C8D1DC"/>
            </a:solidFill>
            <a:prstDash val="solid"/>
          </a:ln>
        </p:spPr>
      </p: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90800" y="3343275"/>
            <a:ext cx="55245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7C8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10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590800" y="4191000"/>
            <a:ext cx="552450" cy="790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D1DC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5143500" y="3343275"/>
            <a:ext cx="47625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D1DC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143500" y="4191000"/>
            <a:ext cx="476250" cy="790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D1DC"/>
            </a:solidFill>
            <a:prstDash val="solid"/>
          </a:ln>
        </p:spPr>
      </p:cxnSp>
      <p:sp>
        <p:nvSpPr>
          <p:cNvPr id="17" name="factloan-label">
            <a:extLst xmlns:a="http://schemas.openxmlformats.org/drawingml/2006/main">
              <a:ext uri="{FF2B5EF4-FFF2-40B4-BE49-F238E27FC236}">
                <a16:creationId xmlns:a16="http://schemas.microsoft.com/office/drawing/2014/main" id="{A2F8027E-D2DA-461A-AF1B-311AE9D0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33825"/>
            <a:ext cx="1695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FactLoan</a:t>
            </a:r>
          </a:p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Duration • days before due • late flag</a:t>
            </a:r>
          </a:p>
        </p:txBody>
      </p:sp>
      <p:sp>
        <p:nvSpPr>
          <p:cNvPr id="18" name="date-label">
            <a:extLst xmlns:a="http://schemas.openxmlformats.org/drawingml/2006/main">
              <a:ext uri="{FF2B5EF4-FFF2-40B4-BE49-F238E27FC236}">
                <a16:creationId xmlns:a16="http://schemas.microsoft.com/office/drawing/2014/main" id="{11F2E2FE-A66A-4560-9D4C-968850AF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140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DimDate</a:t>
            </a:r>
          </a:p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Borrow date only</a:t>
            </a:r>
          </a:p>
        </p:txBody>
      </p:sp>
      <p:sp>
        <p:nvSpPr>
          <p:cNvPr id="19" name="member-label">
            <a:extLst xmlns:a="http://schemas.openxmlformats.org/drawingml/2006/main">
              <a:ext uri="{FF2B5EF4-FFF2-40B4-BE49-F238E27FC236}">
                <a16:creationId xmlns:a16="http://schemas.microsoft.com/office/drawing/2014/main" id="{744C6874-DB0A-4633-AEB1-FF4A20D3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72025"/>
            <a:ext cx="140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DimMember</a:t>
            </a:r>
          </a:p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Tier attributes</a:t>
            </a:r>
          </a:p>
        </p:txBody>
      </p:sp>
      <p:sp>
        <p:nvSpPr>
          <p:cNvPr id="20" name="book-label">
            <a:extLst xmlns:a="http://schemas.openxmlformats.org/drawingml/2006/main">
              <a:ext uri="{FF2B5EF4-FFF2-40B4-BE49-F238E27FC236}">
                <a16:creationId xmlns:a16="http://schemas.microsoft.com/office/drawing/2014/main" id="{728D05B3-53CB-4F84-8638-D451F440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33725"/>
            <a:ext cx="140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DimBook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Genre and minimum tier</a:t>
            </a:r>
          </a:p>
        </p:txBody>
      </p:sp>
      <p:sp>
        <p:nvSpPr>
          <p:cNvPr id="21" name="staff-label">
            <a:extLst xmlns:a="http://schemas.openxmlformats.org/drawingml/2006/main">
              <a:ext uri="{FF2B5EF4-FFF2-40B4-BE49-F238E27FC236}">
                <a16:creationId xmlns:a16="http://schemas.microsoft.com/office/drawing/2014/main" id="{35F77C8C-57E6-43EF-95B6-DF784D16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72025"/>
            <a:ext cx="140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DimStaff</a:t>
            </a:r>
          </a:p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Department and employment type</a:t>
            </a:r>
          </a:p>
        </p:txBody>
      </p:sp>
      <p:sp>
        <p:nvSpPr>
          <p:cNvPr id="22" name="dw-erd-frame">
            <a:extLst xmlns:a="http://schemas.openxmlformats.org/drawingml/2006/main">
              <a:ext uri="{FF2B5EF4-FFF2-40B4-BE49-F238E27FC236}">
                <a16:creationId xmlns:a16="http://schemas.microsoft.com/office/drawing/2014/main" id="{3A0F3F13-C5FD-40F9-8BCE-257F1D27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28900"/>
            <a:ext cx="3286125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78B9EA"/>
            </a:solidFill>
            <a:prstDash val="solid"/>
          </a:ln>
        </p:spPr>
      </p:sp>
      <p:sp>
        <p:nvSpPr>
          <p:cNvPr id="23" name="dw-erd-label">
            <a:extLst xmlns:a="http://schemas.openxmlformats.org/drawingml/2006/main">
              <a:ext uri="{FF2B5EF4-FFF2-40B4-BE49-F238E27FC236}">
                <a16:creationId xmlns:a16="http://schemas.microsoft.com/office/drawing/2014/main" id="{1C087A64-9BE0-46A6-A99A-7A40B8C6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14650"/>
            <a:ext cx="2752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DW star-schema ERD</a:t>
            </a:r>
          </a:p>
        </p:txBody>
      </p:sp>
      <p:sp>
        <p:nvSpPr>
          <p:cNvPr id="24" name="dw-erd-detail">
            <a:extLst xmlns:a="http://schemas.openxmlformats.org/drawingml/2006/main">
              <a:ext uri="{FF2B5EF4-FFF2-40B4-BE49-F238E27FC236}">
                <a16:creationId xmlns:a16="http://schemas.microsoft.com/office/drawing/2014/main" id="{6D508209-1810-446A-A67D-77AA2A5C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09950"/>
            <a:ext cx="25241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Updated MySQL Workbench diagram with one DimDate-to-FactLoan link</a:t>
            </a:r>
          </a:p>
        </p:txBody>
      </p:sp>
      <p:sp>
        <p:nvSpPr>
          <p:cNvPr id="25" name="dw-erd-caption">
            <a:extLst xmlns:a="http://schemas.openxmlformats.org/drawingml/2006/main">
              <a:ext uri="{FF2B5EF4-FFF2-40B4-BE49-F238E27FC236}">
                <a16:creationId xmlns:a16="http://schemas.microsoft.com/office/drawing/2014/main" id="{9D231238-718F-4354-B1E6-1B7DCF5F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62600"/>
            <a:ext cx="3286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DW star-schema ERD</a:t>
            </a:r>
          </a:p>
        </p:txBody>
      </p:sp>
    </p:spTree>
    <p:extLst>
      <p:ext uri="{BB962C8B-B14F-4D97-AF65-F5344CB8AC3E}">
        <p14:creationId xmlns:p14="http://schemas.microsoft.com/office/powerpoint/2010/main" val="8789259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ection-6">
            <a:extLst xmlns:a="http://schemas.openxmlformats.org/drawingml/2006/main">
              <a:ext uri="{FF2B5EF4-FFF2-40B4-BE49-F238E27FC236}">
                <a16:creationId xmlns:a16="http://schemas.microsoft.com/office/drawing/2014/main" id="{2CA1D747-A13A-4BB3-ADC9-0EE7EC02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01546D0D-9498-45F4-B4CB-F15038D2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19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ETL loads a day-level warehouse with verified results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CBC78213-745C-44A3-9209-C3DD37F1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The fact load includes returned loans only, matching the analytical focus</a:t>
            </a:r>
          </a:p>
        </p:txBody>
      </p:sp>
      <p:sp>
        <p:nvSpPr>
          <p:cNvPr id="4" name="rule-72-210">
            <a:extLst xmlns:a="http://schemas.openxmlformats.org/drawingml/2006/main">
              <a:ext uri="{FF2B5EF4-FFF2-40B4-BE49-F238E27FC236}">
                <a16:creationId xmlns:a16="http://schemas.microsoft.com/office/drawing/2014/main" id="{4BA6A0CC-609E-4065-A8B0-91B09408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solidFill>
              <a:srgbClr val="1677C8"/>
            </a:solidFill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592D6543-0450-41C2-8FE7-595E45F4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Green Grass Library | ST1501 Data Engineering CA2 | Group component</a:t>
            </a:r>
          </a:p>
        </p:txBody>
      </p:sp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5BAE17EE-5B0E-4E7F-9380-7F449091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etl-n-0">
            <a:extLst xmlns:a="http://schemas.openxmlformats.org/drawingml/2006/main">
              <a:ext uri="{FF2B5EF4-FFF2-40B4-BE49-F238E27FC236}">
                <a16:creationId xmlns:a16="http://schemas.microsoft.com/office/drawing/2014/main" id="{13EFFD63-994E-443A-8BEA-652B988D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rule-118-294">
            <a:extLst xmlns:a="http://schemas.openxmlformats.org/drawingml/2006/main">
              <a:ext uri="{FF2B5EF4-FFF2-40B4-BE49-F238E27FC236}">
                <a16:creationId xmlns:a16="http://schemas.microsoft.com/office/drawing/2014/main" id="{CD83263A-C102-447B-9FB3-C97F09C8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C"/>
          </a:solidFill>
          <a:ln xmlns:a="http://schemas.openxmlformats.org/drawingml/2006/main" w="0">
            <a:solidFill>
              <a:srgbClr val="C8D1DC"/>
            </a:solidFill>
            <a:prstDash val="solid"/>
          </a:ln>
        </p:spPr>
      </p:sp>
      <p:sp>
        <p:nvSpPr>
          <p:cNvPr id="9" name="etl-h-0">
            <a:extLst xmlns:a="http://schemas.openxmlformats.org/drawingml/2006/main">
              <a:ext uri="{FF2B5EF4-FFF2-40B4-BE49-F238E27FC236}">
                <a16:creationId xmlns:a16="http://schemas.microsoft.com/office/drawing/2014/main" id="{4F408225-1424-428D-860F-06F6E25A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Generate DimDate</a:t>
            </a:r>
          </a:p>
        </p:txBody>
      </p:sp>
      <p:sp>
        <p:nvSpPr>
          <p:cNvPr id="10" name="etl-b-0">
            <a:extLst xmlns:a="http://schemas.openxmlformats.org/drawingml/2006/main">
              <a:ext uri="{FF2B5EF4-FFF2-40B4-BE49-F238E27FC236}">
                <a16:creationId xmlns:a16="http://schemas.microsoft.com/office/drawing/2014/main" id="{93562869-10D8-4AD7-A568-FAD7CB44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2020–2026 at day grain</a:t>
            </a:r>
          </a:p>
        </p:txBody>
      </p:sp>
      <p:sp>
        <p:nvSpPr>
          <p:cNvPr id="11" name="etl-n-1">
            <a:extLst xmlns:a="http://schemas.openxmlformats.org/drawingml/2006/main">
              <a:ext uri="{FF2B5EF4-FFF2-40B4-BE49-F238E27FC236}">
                <a16:creationId xmlns:a16="http://schemas.microsoft.com/office/drawing/2014/main" id="{46A5397C-7DA1-4E13-B56E-A9AD5903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6193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rule-323-294">
            <a:extLst xmlns:a="http://schemas.openxmlformats.org/drawingml/2006/main">
              <a:ext uri="{FF2B5EF4-FFF2-40B4-BE49-F238E27FC236}">
                <a16:creationId xmlns:a16="http://schemas.microsoft.com/office/drawing/2014/main" id="{86396A60-2A1D-400B-9464-4C745BD0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8003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C"/>
          </a:solidFill>
          <a:ln xmlns:a="http://schemas.openxmlformats.org/drawingml/2006/main" w="0">
            <a:solidFill>
              <a:srgbClr val="C8D1DC"/>
            </a:solidFill>
            <a:prstDash val="solid"/>
          </a:ln>
        </p:spPr>
      </p:sp>
      <p:sp>
        <p:nvSpPr>
          <p:cNvPr id="13" name="etl-h-1">
            <a:extLst xmlns:a="http://schemas.openxmlformats.org/drawingml/2006/main">
              <a:ext uri="{FF2B5EF4-FFF2-40B4-BE49-F238E27FC236}">
                <a16:creationId xmlns:a16="http://schemas.microsoft.com/office/drawing/2014/main" id="{0AC75F7C-A0DC-4DC9-B4E6-C164C875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23850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Load dimensions</a:t>
            </a:r>
          </a:p>
        </p:txBody>
      </p:sp>
      <p:sp>
        <p:nvSpPr>
          <p:cNvPr id="14" name="etl-b-1">
            <a:extLst xmlns:a="http://schemas.openxmlformats.org/drawingml/2006/main">
              <a:ext uri="{FF2B5EF4-FFF2-40B4-BE49-F238E27FC236}">
                <a16:creationId xmlns:a16="http://schemas.microsoft.com/office/drawing/2014/main" id="{0CB66DAE-E687-41F7-89AF-ED56B874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8100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Member, staff and book attributes</a:t>
            </a:r>
          </a:p>
        </p:txBody>
      </p:sp>
      <p:sp>
        <p:nvSpPr>
          <p:cNvPr id="15" name="etl-n-2">
            <a:extLst xmlns:a="http://schemas.openxmlformats.org/drawingml/2006/main">
              <a:ext uri="{FF2B5EF4-FFF2-40B4-BE49-F238E27FC236}">
                <a16:creationId xmlns:a16="http://schemas.microsoft.com/office/drawing/2014/main" id="{172C12A6-E3EC-4513-BCE6-419E054F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193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rule-528-294">
            <a:extLst xmlns:a="http://schemas.openxmlformats.org/drawingml/2006/main">
              <a:ext uri="{FF2B5EF4-FFF2-40B4-BE49-F238E27FC236}">
                <a16:creationId xmlns:a16="http://schemas.microsoft.com/office/drawing/2014/main" id="{99C4AB61-D682-4F2B-8AEB-92FCF6C1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00350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C"/>
          </a:solidFill>
          <a:ln xmlns:a="http://schemas.openxmlformats.org/drawingml/2006/main" w="0">
            <a:solidFill>
              <a:srgbClr val="C8D1DC"/>
            </a:solidFill>
            <a:prstDash val="solid"/>
          </a:ln>
        </p:spPr>
      </p:sp>
      <p:sp>
        <p:nvSpPr>
          <p:cNvPr id="17" name="etl-h-2">
            <a:extLst xmlns:a="http://schemas.openxmlformats.org/drawingml/2006/main">
              <a:ext uri="{FF2B5EF4-FFF2-40B4-BE49-F238E27FC236}">
                <a16:creationId xmlns:a16="http://schemas.microsoft.com/office/drawing/2014/main" id="{D894E561-0507-4F65-AAB1-A611F50E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Load FactLoan</a:t>
            </a:r>
          </a:p>
        </p:txBody>
      </p:sp>
      <p:sp>
        <p:nvSpPr>
          <p:cNvPr id="18" name="etl-b-2">
            <a:extLst xmlns:a="http://schemas.openxmlformats.org/drawingml/2006/main">
              <a:ext uri="{FF2B5EF4-FFF2-40B4-BE49-F238E27FC236}">
                <a16:creationId xmlns:a16="http://schemas.microsoft.com/office/drawing/2014/main" id="{7E6FF2BF-6E6C-46F0-9A92-267FCE29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00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Resolve natural keys to surrogate keys</a:t>
            </a:r>
          </a:p>
        </p:txBody>
      </p:sp>
      <p:sp>
        <p:nvSpPr>
          <p:cNvPr id="19" name="etl-n-3">
            <a:extLst xmlns:a="http://schemas.openxmlformats.org/drawingml/2006/main">
              <a:ext uri="{FF2B5EF4-FFF2-40B4-BE49-F238E27FC236}">
                <a16:creationId xmlns:a16="http://schemas.microsoft.com/office/drawing/2014/main" id="{56537250-26FA-4231-9E05-AF55984F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193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etl-h-3">
            <a:extLst xmlns:a="http://schemas.openxmlformats.org/drawingml/2006/main">
              <a:ext uri="{FF2B5EF4-FFF2-40B4-BE49-F238E27FC236}">
                <a16:creationId xmlns:a16="http://schemas.microsoft.com/office/drawing/2014/main" id="{6BFDB416-E84D-4D6F-8526-E28C2871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23850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Reconcile results</a:t>
            </a:r>
          </a:p>
        </p:txBody>
      </p:sp>
      <p:sp>
        <p:nvSpPr>
          <p:cNvPr id="21" name="etl-b-3">
            <a:extLst xmlns:a="http://schemas.openxmlformats.org/drawingml/2006/main">
              <a:ext uri="{FF2B5EF4-FFF2-40B4-BE49-F238E27FC236}">
                <a16:creationId xmlns:a16="http://schemas.microsoft.com/office/drawing/2014/main" id="{6E82C6CD-C270-4E90-A4F2-DDBCC923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8100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Compare row counts, measures and orphan keys</a:t>
            </a:r>
          </a:p>
        </p:txBody>
      </p:sp>
      <p:sp>
        <p:nvSpPr>
          <p:cNvPr id="22" name="etl-metric-1-box">
            <a:extLst xmlns:a="http://schemas.openxmlformats.org/drawingml/2006/main">
              <a:ext uri="{FF2B5EF4-FFF2-40B4-BE49-F238E27FC236}">
                <a16:creationId xmlns:a16="http://schemas.microsoft.com/office/drawing/2014/main" id="{4417DAD2-907C-4201-9F04-9FEDEE07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2381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0">
            <a:solidFill>
              <a:srgbClr val="F2F5F8"/>
            </a:solidFill>
            <a:prstDash val="solid"/>
          </a:ln>
        </p:spPr>
      </p:sp>
      <p:sp>
        <p:nvSpPr>
          <p:cNvPr id="23" name="etl-metric-1-number">
            <a:extLst xmlns:a="http://schemas.openxmlformats.org/drawingml/2006/main">
              <a:ext uri="{FF2B5EF4-FFF2-40B4-BE49-F238E27FC236}">
                <a16:creationId xmlns:a16="http://schemas.microsoft.com/office/drawing/2014/main" id="{82BFDD8A-675E-4587-8AAD-DDAF6672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12,343</a:t>
            </a:r>
          </a:p>
        </p:txBody>
      </p:sp>
      <p:sp>
        <p:nvSpPr>
          <p:cNvPr id="24" name="etl-metric-1-label">
            <a:extLst xmlns:a="http://schemas.openxmlformats.org/drawingml/2006/main">
              <a:ext uri="{FF2B5EF4-FFF2-40B4-BE49-F238E27FC236}">
                <a16:creationId xmlns:a16="http://schemas.microsoft.com/office/drawing/2014/main" id="{5D0729DC-7DAF-4CCE-8B08-359458EE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completed loans = FactLoan rows</a:t>
            </a:r>
          </a:p>
        </p:txBody>
      </p:sp>
      <p:sp>
        <p:nvSpPr>
          <p:cNvPr id="25" name="etl-metric-2-box">
            <a:extLst xmlns:a="http://schemas.openxmlformats.org/drawingml/2006/main">
              <a:ext uri="{FF2B5EF4-FFF2-40B4-BE49-F238E27FC236}">
                <a16:creationId xmlns:a16="http://schemas.microsoft.com/office/drawing/2014/main" id="{4F0CD7CA-8C03-49DA-A3B3-AEEAA0A7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33950"/>
            <a:ext cx="2381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0">
            <a:solidFill>
              <a:srgbClr val="F2F5F8"/>
            </a:solidFill>
            <a:prstDash val="solid"/>
          </a:ln>
        </p:spPr>
      </p:sp>
      <p:sp>
        <p:nvSpPr>
          <p:cNvPr id="26" name="etl-metric-2-number">
            <a:extLst xmlns:a="http://schemas.openxmlformats.org/drawingml/2006/main">
              <a:ext uri="{FF2B5EF4-FFF2-40B4-BE49-F238E27FC236}">
                <a16:creationId xmlns:a16="http://schemas.microsoft.com/office/drawing/2014/main" id="{B633ADA4-0378-459C-9F12-83E746F1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244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108,801</a:t>
            </a:r>
          </a:p>
        </p:txBody>
      </p:sp>
      <p:sp>
        <p:nvSpPr>
          <p:cNvPr id="27" name="etl-metric-2-label">
            <a:extLst xmlns:a="http://schemas.openxmlformats.org/drawingml/2006/main">
              <a:ext uri="{FF2B5EF4-FFF2-40B4-BE49-F238E27FC236}">
                <a16:creationId xmlns:a16="http://schemas.microsoft.com/office/drawing/2014/main" id="{C3250FA1-1600-4103-BCFD-76841EDB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7150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total duration days match OLTP</a:t>
            </a:r>
          </a:p>
        </p:txBody>
      </p:sp>
      <p:sp>
        <p:nvSpPr>
          <p:cNvPr id="28" name="etl-metric-3-box">
            <a:extLst xmlns:a="http://schemas.openxmlformats.org/drawingml/2006/main">
              <a:ext uri="{FF2B5EF4-FFF2-40B4-BE49-F238E27FC236}">
                <a16:creationId xmlns:a16="http://schemas.microsoft.com/office/drawing/2014/main" id="{66B33F72-1BC8-44AE-AED9-41FCF8F7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33950"/>
            <a:ext cx="2381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0">
            <a:solidFill>
              <a:srgbClr val="F2F5F8"/>
            </a:solidFill>
            <a:prstDash val="solid"/>
          </a:ln>
        </p:spPr>
      </p:sp>
      <p:sp>
        <p:nvSpPr>
          <p:cNvPr id="29" name="etl-metric-3-number">
            <a:extLst xmlns:a="http://schemas.openxmlformats.org/drawingml/2006/main">
              <a:ext uri="{FF2B5EF4-FFF2-40B4-BE49-F238E27FC236}">
                <a16:creationId xmlns:a16="http://schemas.microsoft.com/office/drawing/2014/main" id="{256A19BD-6122-431E-9F25-B7C536C5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244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" name="etl-metric-3-label">
            <a:extLst xmlns:a="http://schemas.openxmlformats.org/drawingml/2006/main">
              <a:ext uri="{FF2B5EF4-FFF2-40B4-BE49-F238E27FC236}">
                <a16:creationId xmlns:a16="http://schemas.microsoft.com/office/drawing/2014/main" id="{7130D4CB-0888-45B8-919B-F3A08D6E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7150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orphan facts after loading</a:t>
            </a:r>
          </a:p>
        </p:txBody>
      </p:sp>
      <p:sp>
        <p:nvSpPr>
          <p:cNvPr id="31" name="etl-evidence-frame">
            <a:extLst xmlns:a="http://schemas.openxmlformats.org/drawingml/2006/main">
              <a:ext uri="{FF2B5EF4-FFF2-40B4-BE49-F238E27FC236}">
                <a16:creationId xmlns:a16="http://schemas.microsoft.com/office/drawing/2014/main" id="{667E5199-F081-4634-801A-BFDFE180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24125"/>
            <a:ext cx="2381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78B9EA"/>
            </a:solidFill>
            <a:prstDash val="solid"/>
          </a:ln>
        </p:spPr>
      </p:sp>
      <p:sp>
        <p:nvSpPr>
          <p:cNvPr id="32" name="etl-evidence-label">
            <a:extLst xmlns:a="http://schemas.openxmlformats.org/drawingml/2006/main">
              <a:ext uri="{FF2B5EF4-FFF2-40B4-BE49-F238E27FC236}">
                <a16:creationId xmlns:a16="http://schemas.microsoft.com/office/drawing/2014/main" id="{E510E557-15CF-4FF6-9ED9-D5B04713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80987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ETL verification</a:t>
            </a:r>
          </a:p>
        </p:txBody>
      </p:sp>
      <p:sp>
        <p:nvSpPr>
          <p:cNvPr id="33" name="etl-evidence-detail">
            <a:extLst xmlns:a="http://schemas.openxmlformats.org/drawingml/2006/main">
              <a:ext uri="{FF2B5EF4-FFF2-40B4-BE49-F238E27FC236}">
                <a16:creationId xmlns:a16="http://schemas.microsoft.com/office/drawing/2014/main" id="{81640DF2-339B-49F2-A387-54709A24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05175"/>
            <a:ext cx="161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Row-count and measure checks</a:t>
            </a:r>
          </a:p>
        </p:txBody>
      </p:sp>
      <p:sp>
        <p:nvSpPr>
          <p:cNvPr id="34" name="etl-evidence-caption">
            <a:extLst xmlns:a="http://schemas.openxmlformats.org/drawingml/2006/main">
              <a:ext uri="{FF2B5EF4-FFF2-40B4-BE49-F238E27FC236}">
                <a16:creationId xmlns:a16="http://schemas.microsoft.com/office/drawing/2014/main" id="{DD87443F-386E-43E4-AC01-2D0F3FD7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924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ETL verification</a:t>
            </a:r>
          </a:p>
        </p:txBody>
      </p:sp>
    </p:spTree>
    <p:extLst>
      <p:ext uri="{BB962C8B-B14F-4D97-AF65-F5344CB8AC3E}">
        <p14:creationId xmlns:p14="http://schemas.microsoft.com/office/powerpoint/2010/main" val="21419301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7">
            <a:extLst xmlns:a="http://schemas.openxmlformats.org/drawingml/2006/main">
              <a:ext uri="{FF2B5EF4-FFF2-40B4-BE49-F238E27FC236}">
                <a16:creationId xmlns:a16="http://schemas.microsoft.com/office/drawing/2014/main" id="{75DCE738-2811-469C-8895-FD799994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EF9BA86D-7C52-4D30-83E0-A0F389AC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19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Eight analytical queries turn the warehouse into evidence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4995BD4B-A692-4000-BAFE-4B953B44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The queries span time, collection demand, member behaviour and operations</a:t>
            </a:r>
          </a:p>
        </p:txBody>
      </p:sp>
      <p:sp>
        <p:nvSpPr>
          <p:cNvPr id="4" name="rule-72-210">
            <a:extLst xmlns:a="http://schemas.openxmlformats.org/drawingml/2006/main">
              <a:ext uri="{FF2B5EF4-FFF2-40B4-BE49-F238E27FC236}">
                <a16:creationId xmlns:a16="http://schemas.microsoft.com/office/drawing/2014/main" id="{9FBE3B17-22CD-424C-83EE-C65C76C0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solidFill>
              <a:srgbClr val="1677C8"/>
            </a:solidFill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2D7E33B5-F3AD-41BF-A57B-B775E6C1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Green Grass Library | ST1501 Data Engineering CA2 | Group component</a:t>
            </a:r>
          </a:p>
        </p:txBody>
      </p:sp>
      <p:sp>
        <p:nvSpPr>
          <p:cNvPr id="6" name="page-7">
            <a:extLst xmlns:a="http://schemas.openxmlformats.org/drawingml/2006/main">
              <a:ext uri="{FF2B5EF4-FFF2-40B4-BE49-F238E27FC236}">
                <a16:creationId xmlns:a16="http://schemas.microsoft.com/office/drawing/2014/main" id="{8B05A1C9-3015-4F4D-9320-ED8F50F5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" name="query-topic-0">
            <a:extLst xmlns:a="http://schemas.openxmlformats.org/drawingml/2006/main">
              <a:ext uri="{FF2B5EF4-FFF2-40B4-BE49-F238E27FC236}">
                <a16:creationId xmlns:a16="http://schemas.microsoft.com/office/drawing/2014/main" id="{9C840828-2142-4B62-924C-2211CE73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762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9EEFC"/>
          </a:solidFill>
          <a:ln xmlns:a="http://schemas.openxmlformats.org/drawingml/2006/main" w="0">
            <a:solidFill>
              <a:srgbClr val="F2F5F8"/>
            </a:solidFill>
            <a:prstDash val="solid"/>
          </a:ln>
        </p:spPr>
      </p:sp>
      <p:sp>
        <p:nvSpPr>
          <p:cNvPr id="8" name="query-topic-head-0">
            <a:extLst xmlns:a="http://schemas.openxmlformats.org/drawingml/2006/main">
              <a:ext uri="{FF2B5EF4-FFF2-40B4-BE49-F238E27FC236}">
                <a16:creationId xmlns:a16="http://schemas.microsoft.com/office/drawing/2014/main" id="{9CB80E4A-B98A-4E99-AC6B-656C1780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9" name="query-topic-body-0">
            <a:extLst xmlns:a="http://schemas.openxmlformats.org/drawingml/2006/main">
              <a:ext uri="{FF2B5EF4-FFF2-40B4-BE49-F238E27FC236}">
                <a16:creationId xmlns:a16="http://schemas.microsoft.com/office/drawing/2014/main" id="{B6F98821-D7B9-41E4-B937-8A37E186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670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Monthly volumes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Day-of-week demand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Seasonal genre patterns</a:t>
            </a:r>
          </a:p>
        </p:txBody>
      </p:sp>
      <p:sp>
        <p:nvSpPr>
          <p:cNvPr id="10" name="query-topic-1">
            <a:extLst xmlns:a="http://schemas.openxmlformats.org/drawingml/2006/main">
              <a:ext uri="{FF2B5EF4-FFF2-40B4-BE49-F238E27FC236}">
                <a16:creationId xmlns:a16="http://schemas.microsoft.com/office/drawing/2014/main" id="{6FD829B3-987F-4673-8593-68D94ACD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33625"/>
            <a:ext cx="2762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0">
            <a:solidFill>
              <a:srgbClr val="F2F5F8"/>
            </a:solidFill>
            <a:prstDash val="solid"/>
          </a:ln>
        </p:spPr>
      </p:sp>
      <p:sp>
        <p:nvSpPr>
          <p:cNvPr id="11" name="query-topic-head-1">
            <a:extLst xmlns:a="http://schemas.openxmlformats.org/drawingml/2006/main">
              <a:ext uri="{FF2B5EF4-FFF2-40B4-BE49-F238E27FC236}">
                <a16:creationId xmlns:a16="http://schemas.microsoft.com/office/drawing/2014/main" id="{64814B89-9F54-4485-9E9F-26EEC3FD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24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Collection</a:t>
            </a:r>
          </a:p>
        </p:txBody>
      </p:sp>
      <p:sp>
        <p:nvSpPr>
          <p:cNvPr id="12" name="query-topic-body-1">
            <a:extLst xmlns:a="http://schemas.openxmlformats.org/drawingml/2006/main">
              <a:ext uri="{FF2B5EF4-FFF2-40B4-BE49-F238E27FC236}">
                <a16:creationId xmlns:a16="http://schemas.microsoft.com/office/drawing/2014/main" id="{5E71F2AB-DA62-4ADE-B315-AC58DAC2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670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Genre popularity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Loans per book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Reading duration by genre</a:t>
            </a:r>
          </a:p>
        </p:txBody>
      </p:sp>
      <p:sp>
        <p:nvSpPr>
          <p:cNvPr id="13" name="query-topic-2">
            <a:extLst xmlns:a="http://schemas.openxmlformats.org/drawingml/2006/main">
              <a:ext uri="{FF2B5EF4-FFF2-40B4-BE49-F238E27FC236}">
                <a16:creationId xmlns:a16="http://schemas.microsoft.com/office/drawing/2014/main" id="{D5712EA6-2D19-4A01-8615-62AD9281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2762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0">
            <a:solidFill>
              <a:srgbClr val="F2F5F8"/>
            </a:solidFill>
            <a:prstDash val="solid"/>
          </a:ln>
        </p:spPr>
      </p:sp>
      <p:sp>
        <p:nvSpPr>
          <p:cNvPr id="14" name="query-topic-head-2">
            <a:extLst xmlns:a="http://schemas.openxmlformats.org/drawingml/2006/main">
              <a:ext uri="{FF2B5EF4-FFF2-40B4-BE49-F238E27FC236}">
                <a16:creationId xmlns:a16="http://schemas.microsoft.com/office/drawing/2014/main" id="{AAC7C96C-34BF-49D1-8735-47199B97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Members</a:t>
            </a:r>
          </a:p>
        </p:txBody>
      </p:sp>
      <p:sp>
        <p:nvSpPr>
          <p:cNvPr id="15" name="query-topic-body-2">
            <a:extLst xmlns:a="http://schemas.openxmlformats.org/drawingml/2006/main">
              <a:ext uri="{FF2B5EF4-FFF2-40B4-BE49-F238E27FC236}">
                <a16:creationId xmlns:a16="http://schemas.microsoft.com/office/drawing/2014/main" id="{A5B5CD61-0A9E-424B-8277-355E19B0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Top and bottom activity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Loan duration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Late-return rate by tier</a:t>
            </a:r>
          </a:p>
        </p:txBody>
      </p:sp>
      <p:sp>
        <p:nvSpPr>
          <p:cNvPr id="16" name="query-topic-3">
            <a:extLst xmlns:a="http://schemas.openxmlformats.org/drawingml/2006/main">
              <a:ext uri="{FF2B5EF4-FFF2-40B4-BE49-F238E27FC236}">
                <a16:creationId xmlns:a16="http://schemas.microsoft.com/office/drawing/2014/main" id="{453FBA17-BE0C-4182-BE31-58D9E9A4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48125"/>
            <a:ext cx="2762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0">
            <a:solidFill>
              <a:srgbClr val="F2F5F8"/>
            </a:solidFill>
            <a:prstDash val="solid"/>
          </a:ln>
        </p:spPr>
      </p:sp>
      <p:sp>
        <p:nvSpPr>
          <p:cNvPr id="17" name="query-topic-head-3">
            <a:extLst xmlns:a="http://schemas.openxmlformats.org/drawingml/2006/main">
              <a:ext uri="{FF2B5EF4-FFF2-40B4-BE49-F238E27FC236}">
                <a16:creationId xmlns:a16="http://schemas.microsoft.com/office/drawing/2014/main" id="{D168F9E5-E7BE-41FF-ABED-AD82B450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38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8" name="query-topic-body-3">
            <a:extLst xmlns:a="http://schemas.openxmlformats.org/drawingml/2006/main">
              <a:ext uri="{FF2B5EF4-FFF2-40B4-BE49-F238E27FC236}">
                <a16:creationId xmlns:a16="http://schemas.microsoft.com/office/drawing/2014/main" id="{ACF47521-F275-4FAB-BFC3-57B9FF8B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815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Staff workload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Lateness severity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Department comparisons</a:t>
            </a:r>
          </a:p>
        </p:txBody>
      </p:sp>
      <p:sp>
        <p:nvSpPr>
          <p:cNvPr id="19" name="query-takeaway">
            <a:extLst xmlns:a="http://schemas.openxmlformats.org/drawingml/2006/main">
              <a:ext uri="{FF2B5EF4-FFF2-40B4-BE49-F238E27FC236}">
                <a16:creationId xmlns:a16="http://schemas.microsoft.com/office/drawing/2014/main" id="{5561E6D1-92A9-4DD8-829B-E6BAF129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The common fact grain makes every query comparable while the dimensions add business context.</a:t>
            </a:r>
          </a:p>
        </p:txBody>
      </p:sp>
      <p:sp>
        <p:nvSpPr>
          <p:cNvPr id="20" name="query-evidence-frame">
            <a:extLst xmlns:a="http://schemas.openxmlformats.org/drawingml/2006/main">
              <a:ext uri="{FF2B5EF4-FFF2-40B4-BE49-F238E27FC236}">
                <a16:creationId xmlns:a16="http://schemas.microsoft.com/office/drawing/2014/main" id="{C068DD02-1B43-40CA-98A3-C3DFC2EB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33625"/>
            <a:ext cx="3762375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78B9EA"/>
            </a:solidFill>
            <a:prstDash val="solid"/>
          </a:ln>
        </p:spPr>
      </p:sp>
      <p:sp>
        <p:nvSpPr>
          <p:cNvPr id="21" name="query-evidence-label">
            <a:extLst xmlns:a="http://schemas.openxmlformats.org/drawingml/2006/main">
              <a:ext uri="{FF2B5EF4-FFF2-40B4-BE49-F238E27FC236}">
                <a16:creationId xmlns:a16="http://schemas.microsoft.com/office/drawing/2014/main" id="{A8DD5A31-568F-4029-9A09-A3B0F824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19375"/>
            <a:ext cx="3228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Query output</a:t>
            </a:r>
          </a:p>
        </p:txBody>
      </p:sp>
      <p:sp>
        <p:nvSpPr>
          <p:cNvPr id="22" name="query-evidence-detail">
            <a:extLst xmlns:a="http://schemas.openxmlformats.org/drawingml/2006/main">
              <a:ext uri="{FF2B5EF4-FFF2-40B4-BE49-F238E27FC236}">
                <a16:creationId xmlns:a16="http://schemas.microsoft.com/office/drawing/2014/main" id="{58761BD6-BB46-4570-97CF-9B9C6182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14675"/>
            <a:ext cx="3000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SQL result, chart or dashboard image</a:t>
            </a:r>
          </a:p>
        </p:txBody>
      </p:sp>
      <p:sp>
        <p:nvSpPr>
          <p:cNvPr id="23" name="query-evidence-caption">
            <a:extLst xmlns:a="http://schemas.openxmlformats.org/drawingml/2006/main">
              <a:ext uri="{FF2B5EF4-FFF2-40B4-BE49-F238E27FC236}">
                <a16:creationId xmlns:a16="http://schemas.microsoft.com/office/drawing/2014/main" id="{5C77E903-AEB9-467E-A2DB-C1AB956B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86425"/>
            <a:ext cx="3762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Query output</a:t>
            </a:r>
          </a:p>
        </p:txBody>
      </p:sp>
    </p:spTree>
    <p:extLst>
      <p:ext uri="{BB962C8B-B14F-4D97-AF65-F5344CB8AC3E}">
        <p14:creationId xmlns:p14="http://schemas.microsoft.com/office/powerpoint/2010/main" val="12718615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8">
            <a:extLst xmlns:a="http://schemas.openxmlformats.org/drawingml/2006/main">
              <a:ext uri="{FF2B5EF4-FFF2-40B4-BE49-F238E27FC236}">
                <a16:creationId xmlns:a16="http://schemas.microsoft.com/office/drawing/2014/main" id="{82B665F3-D0EA-4997-A8E2-21A78965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560569C0-0069-45FF-B1DC-A48AE745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19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Borrowing accelerated sharply through 2025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69632BB2-CC33-4F90-808E-6316F971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Monthly completed-loan volume increased from 175 in January to 2,838 in December</a:t>
            </a:r>
          </a:p>
        </p:txBody>
      </p:sp>
      <p:sp>
        <p:nvSpPr>
          <p:cNvPr id="4" name="rule-72-210">
            <a:extLst xmlns:a="http://schemas.openxmlformats.org/drawingml/2006/main">
              <a:ext uri="{FF2B5EF4-FFF2-40B4-BE49-F238E27FC236}">
                <a16:creationId xmlns:a16="http://schemas.microsoft.com/office/drawing/2014/main" id="{EE3EB2B1-0C29-4843-BC90-5960318B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solidFill>
              <a:srgbClr val="1677C8"/>
            </a:solidFill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C592125F-38EA-48A3-B99C-8DC12731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Green Grass Library | ST1501 Data Engineering CA2 | Group component</a:t>
            </a:r>
          </a:p>
        </p:txBody>
      </p:sp>
      <p:sp>
        <p:nvSpPr>
          <p:cNvPr id="6" name="page-8">
            <a:extLst xmlns:a="http://schemas.openxmlformats.org/drawingml/2006/main">
              <a:ext uri="{FF2B5EF4-FFF2-40B4-BE49-F238E27FC236}">
                <a16:creationId xmlns:a16="http://schemas.microsoft.com/office/drawing/2014/main" id="{D0B02D38-E80B-4BC9-A2F5-49EF6489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70008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daf26ea8bf49eb"/>
          </a:graphicData>
        </a:graphic>
      </p:graphicFrame>
      <p:sp>
        <p:nvSpPr>
          <p:cNvPr id="8" name="time-insight-1">
            <a:extLst xmlns:a="http://schemas.openxmlformats.org/drawingml/2006/main">
              <a:ext uri="{FF2B5EF4-FFF2-40B4-BE49-F238E27FC236}">
                <a16:creationId xmlns:a16="http://schemas.microsoft.com/office/drawing/2014/main" id="{D00C7443-2CB2-4D0F-9244-00E3EEEF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33625"/>
            <a:ext cx="2762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EFC"/>
          </a:solidFill>
          <a:ln xmlns:a="http://schemas.openxmlformats.org/drawingml/2006/main" w="0">
            <a:solidFill>
              <a:srgbClr val="D9EEFC"/>
            </a:solidFill>
            <a:prstDash val="solid"/>
          </a:ln>
        </p:spPr>
      </p:sp>
      <p:sp>
        <p:nvSpPr>
          <p:cNvPr id="9" name="time-insight-1-number">
            <a:extLst xmlns:a="http://schemas.openxmlformats.org/drawingml/2006/main">
              <a:ext uri="{FF2B5EF4-FFF2-40B4-BE49-F238E27FC236}">
                <a16:creationId xmlns:a16="http://schemas.microsoft.com/office/drawing/2014/main" id="{27144389-1448-48BD-B395-ABCD4914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2,838</a:t>
            </a:r>
          </a:p>
        </p:txBody>
      </p:sp>
      <p:sp>
        <p:nvSpPr>
          <p:cNvPr id="10" name="time-insight-1-label">
            <a:extLst xmlns:a="http://schemas.openxmlformats.org/drawingml/2006/main">
              <a:ext uri="{FF2B5EF4-FFF2-40B4-BE49-F238E27FC236}">
                <a16:creationId xmlns:a16="http://schemas.microsoft.com/office/drawing/2014/main" id="{44825DE4-A7C0-4396-8ABF-D6F17536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completed loans in December 2025</a:t>
            </a:r>
          </a:p>
        </p:txBody>
      </p:sp>
      <p:sp>
        <p:nvSpPr>
          <p:cNvPr id="11" name="time-insight-2">
            <a:extLst xmlns:a="http://schemas.openxmlformats.org/drawingml/2006/main">
              <a:ext uri="{FF2B5EF4-FFF2-40B4-BE49-F238E27FC236}">
                <a16:creationId xmlns:a16="http://schemas.microsoft.com/office/drawing/2014/main" id="{744F5EF2-1808-4EE3-B6CA-24D1A652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10000"/>
            <a:ext cx="2762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0">
            <a:solidFill>
              <a:srgbClr val="F2F5F8"/>
            </a:solidFill>
            <a:prstDash val="solid"/>
          </a:ln>
        </p:spPr>
      </p:sp>
      <p:sp>
        <p:nvSpPr>
          <p:cNvPr id="12" name="time-insight-2-number">
            <a:extLst xmlns:a="http://schemas.openxmlformats.org/drawingml/2006/main">
              <a:ext uri="{FF2B5EF4-FFF2-40B4-BE49-F238E27FC236}">
                <a16:creationId xmlns:a16="http://schemas.microsoft.com/office/drawing/2014/main" id="{D5572318-B8FC-46F2-8363-17FC3401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69.79%</a:t>
            </a:r>
          </a:p>
        </p:txBody>
      </p:sp>
      <p:sp>
        <p:nvSpPr>
          <p:cNvPr id="13" name="time-insight-2-label">
            <a:extLst xmlns:a="http://schemas.openxmlformats.org/drawingml/2006/main">
              <a:ext uri="{FF2B5EF4-FFF2-40B4-BE49-F238E27FC236}">
                <a16:creationId xmlns:a16="http://schemas.microsoft.com/office/drawing/2014/main" id="{E0D0FA02-7847-438A-B8D5-0FDC87E3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148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of loans began on Saturday or Sunday; staffing demand is concentrated at weekends</a:t>
            </a:r>
          </a:p>
        </p:txBody>
      </p:sp>
    </p:spTree>
    <p:extLst>
      <p:ext uri="{BB962C8B-B14F-4D97-AF65-F5344CB8AC3E}">
        <p14:creationId xmlns:p14="http://schemas.microsoft.com/office/powerpoint/2010/main" val="9653079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9">
            <a:extLst xmlns:a="http://schemas.openxmlformats.org/drawingml/2006/main">
              <a:ext uri="{FF2B5EF4-FFF2-40B4-BE49-F238E27FC236}">
                <a16:creationId xmlns:a16="http://schemas.microsoft.com/office/drawing/2014/main" id="{AB43CE18-A0FC-406B-BAE1-29413150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88656ED2-DA0D-4747-8471-C65AB661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19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data highlights collection demand and a manageable late-return gap</a:t>
            </a:r>
          </a:p>
        </p:txBody>
      </p:sp>
      <p:sp>
        <p:nvSpPr>
          <p:cNvPr id="3" name="subtitle-9">
            <a:extLst xmlns:a="http://schemas.openxmlformats.org/drawingml/2006/main">
              <a:ext uri="{FF2B5EF4-FFF2-40B4-BE49-F238E27FC236}">
                <a16:creationId xmlns:a16="http://schemas.microsoft.com/office/drawing/2014/main" id="{E0782383-3F86-47EB-A1EC-E47A37A6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Insights are grounded in completed loans from the warehouse</a:t>
            </a:r>
          </a:p>
        </p:txBody>
      </p:sp>
      <p:sp>
        <p:nvSpPr>
          <p:cNvPr id="4" name="rule-72-210">
            <a:extLst xmlns:a="http://schemas.openxmlformats.org/drawingml/2006/main">
              <a:ext uri="{FF2B5EF4-FFF2-40B4-BE49-F238E27FC236}">
                <a16:creationId xmlns:a16="http://schemas.microsoft.com/office/drawing/2014/main" id="{8529380F-7EBB-4617-8015-951AC224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solidFill>
              <a:srgbClr val="1677C8"/>
            </a:solidFill>
            <a:prstDash val="solid"/>
          </a:ln>
        </p:spPr>
      </p:sp>
      <p:sp>
        <p:nvSpPr>
          <p:cNvPr id="5" name="footer-9">
            <a:extLst xmlns:a="http://schemas.openxmlformats.org/drawingml/2006/main">
              <a:ext uri="{FF2B5EF4-FFF2-40B4-BE49-F238E27FC236}">
                <a16:creationId xmlns:a16="http://schemas.microsoft.com/office/drawing/2014/main" id="{17B1861A-F960-4A1A-98A0-7FC9DACB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Green Grass Library | ST1501 Data Engineering CA2 | Group component</a:t>
            </a:r>
          </a:p>
        </p:txBody>
      </p:sp>
      <p:sp>
        <p:nvSpPr>
          <p:cNvPr id="6" name="page-9">
            <a:extLst xmlns:a="http://schemas.openxmlformats.org/drawingml/2006/main">
              <a:ext uri="{FF2B5EF4-FFF2-40B4-BE49-F238E27FC236}">
                <a16:creationId xmlns:a16="http://schemas.microsoft.com/office/drawing/2014/main" id="{A3438E8E-DD57-46EA-8BC9-7BBA9A7F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insight-0">
            <a:extLst xmlns:a="http://schemas.openxmlformats.org/drawingml/2006/main">
              <a:ext uri="{FF2B5EF4-FFF2-40B4-BE49-F238E27FC236}">
                <a16:creationId xmlns:a16="http://schemas.microsoft.com/office/drawing/2014/main" id="{EC23251C-1203-48B3-8D05-78BAFDB7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309562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0">
            <a:solidFill>
              <a:srgbClr val="F2F5F8"/>
            </a:solidFill>
            <a:prstDash val="solid"/>
          </a:ln>
        </p:spPr>
      </p:sp>
      <p:sp>
        <p:nvSpPr>
          <p:cNvPr id="8" name="insight-head-0">
            <a:extLst xmlns:a="http://schemas.openxmlformats.org/drawingml/2006/main">
              <a:ext uri="{FF2B5EF4-FFF2-40B4-BE49-F238E27FC236}">
                <a16:creationId xmlns:a16="http://schemas.microsoft.com/office/drawing/2014/main" id="{458C070E-5CBF-4492-BC29-20E0DC64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2638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Research Journal</a:t>
            </a:r>
          </a:p>
        </p:txBody>
      </p:sp>
      <p:sp>
        <p:nvSpPr>
          <p:cNvPr id="9" name="insight-body-0">
            <a:extLst xmlns:a="http://schemas.openxmlformats.org/drawingml/2006/main">
              <a:ext uri="{FF2B5EF4-FFF2-40B4-BE49-F238E27FC236}">
                <a16:creationId xmlns:a16="http://schemas.microsoft.com/office/drawing/2014/main" id="{DAE9DAD4-4731-4BC8-9743-0AC2A4E2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71875"/>
            <a:ext cx="25622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2,093 loans across 96 books</a:t>
            </a:r>
          </a:p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Largest genre by total loans</a:t>
            </a:r>
          </a:p>
        </p:txBody>
      </p:sp>
      <p:sp>
        <p:nvSpPr>
          <p:cNvPr id="10" name="insight-1">
            <a:extLst xmlns:a="http://schemas.openxmlformats.org/drawingml/2006/main">
              <a:ext uri="{FF2B5EF4-FFF2-40B4-BE49-F238E27FC236}">
                <a16:creationId xmlns:a16="http://schemas.microsoft.com/office/drawing/2014/main" id="{40EB34A2-3A06-4BF2-801D-272A74C7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619375"/>
            <a:ext cx="309562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0">
            <a:solidFill>
              <a:srgbClr val="F2F5F8"/>
            </a:solidFill>
            <a:prstDash val="solid"/>
          </a:ln>
        </p:spPr>
      </p:sp>
      <p:sp>
        <p:nvSpPr>
          <p:cNvPr id="11" name="insight-head-1">
            <a:extLst xmlns:a="http://schemas.openxmlformats.org/drawingml/2006/main">
              <a:ext uri="{FF2B5EF4-FFF2-40B4-BE49-F238E27FC236}">
                <a16:creationId xmlns:a16="http://schemas.microsoft.com/office/drawing/2014/main" id="{2E327995-7E27-47CB-917A-CFD0E017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24175"/>
            <a:ext cx="2638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Young Adult</a:t>
            </a:r>
          </a:p>
        </p:txBody>
      </p:sp>
      <p:sp>
        <p:nvSpPr>
          <p:cNvPr id="12" name="insight-body-1">
            <a:extLst xmlns:a="http://schemas.openxmlformats.org/drawingml/2006/main">
              <a:ext uri="{FF2B5EF4-FFF2-40B4-BE49-F238E27FC236}">
                <a16:creationId xmlns:a16="http://schemas.microsoft.com/office/drawing/2014/main" id="{0C5CDC07-FDBF-425A-B79E-9E6CE578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571875"/>
            <a:ext cx="25622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31.2 loans per book</a:t>
            </a:r>
          </a:p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Highest use intensity among the reported genres</a:t>
            </a:r>
          </a:p>
        </p:txBody>
      </p:sp>
      <p:sp>
        <p:nvSpPr>
          <p:cNvPr id="13" name="insight-2">
            <a:extLst xmlns:a="http://schemas.openxmlformats.org/drawingml/2006/main">
              <a:ext uri="{FF2B5EF4-FFF2-40B4-BE49-F238E27FC236}">
                <a16:creationId xmlns:a16="http://schemas.microsoft.com/office/drawing/2014/main" id="{D8703BC4-9716-4B11-96EC-B16EDF4E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19375"/>
            <a:ext cx="309562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D9EEFC"/>
          </a:solidFill>
          <a:ln xmlns:a="http://schemas.openxmlformats.org/drawingml/2006/main" w="0">
            <a:solidFill>
              <a:srgbClr val="F2F5F8"/>
            </a:solidFill>
            <a:prstDash val="solid"/>
          </a:ln>
        </p:spPr>
      </p:sp>
      <p:sp>
        <p:nvSpPr>
          <p:cNvPr id="14" name="insight-head-2">
            <a:extLst xmlns:a="http://schemas.openxmlformats.org/drawingml/2006/main">
              <a:ext uri="{FF2B5EF4-FFF2-40B4-BE49-F238E27FC236}">
                <a16:creationId xmlns:a16="http://schemas.microsoft.com/office/drawing/2014/main" id="{FA7EB99C-8F39-48EA-878F-37C53E0E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24175"/>
            <a:ext cx="2638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Membership tiers</a:t>
            </a:r>
          </a:p>
        </p:txBody>
      </p:sp>
      <p:sp>
        <p:nvSpPr>
          <p:cNvPr id="15" name="insight-body-2">
            <a:extLst xmlns:a="http://schemas.openxmlformats.org/drawingml/2006/main">
              <a:ext uri="{FF2B5EF4-FFF2-40B4-BE49-F238E27FC236}">
                <a16:creationId xmlns:a16="http://schemas.microsoft.com/office/drawing/2014/main" id="{E19AE702-1AA2-462E-9A11-9D8F009B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71875"/>
            <a:ext cx="25622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Basic: 8.94% late</a:t>
            </a:r>
          </a:p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Premium: 7.94% late</a:t>
            </a:r>
          </a:p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 1.00 percentage-point gap</a:t>
            </a:r>
          </a:p>
        </p:txBody>
      </p:sp>
      <p:sp>
        <p:nvSpPr>
          <p:cNvPr id="16" name="insight-application">
            <a:extLst xmlns:a="http://schemas.openxmlformats.org/drawingml/2006/main">
              <a:ext uri="{FF2B5EF4-FFF2-40B4-BE49-F238E27FC236}">
                <a16:creationId xmlns:a16="http://schemas.microsoft.com/office/drawing/2014/main" id="{1B905FFB-1AD2-46CE-95AE-F94D5B60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Application: plan capacity for weekend and year-end demand, monitor high-turnover genres, and focus overdue interventions on the Basic tier.</a:t>
            </a:r>
          </a:p>
        </p:txBody>
      </p:sp>
    </p:spTree>
    <p:extLst>
      <p:ext uri="{BB962C8B-B14F-4D97-AF65-F5344CB8AC3E}">
        <p14:creationId xmlns:p14="http://schemas.microsoft.com/office/powerpoint/2010/main" val="19854087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clusion-eyebrow">
            <a:extLst xmlns:a="http://schemas.openxmlformats.org/drawingml/2006/main">
              <a:ext uri="{FF2B5EF4-FFF2-40B4-BE49-F238E27FC236}">
                <a16:creationId xmlns:a16="http://schemas.microsoft.com/office/drawing/2014/main" id="{DEC5CD51-CDCA-457C-9BCE-0DF046D9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B7BBCF69-5753-48B6-93BA-ACA81AD4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Clean data enables</a:t>
            </a:r>
          </a:p>
          <a:p xmlns:a="http://schemas.openxmlformats.org/drawingml/2006/main">
            <a:pPr algn="l">
              <a:defRPr sz="4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confident decisions.</a:t>
            </a:r>
          </a:p>
        </p:txBody>
      </p:sp>
      <p:sp>
        <p:nvSpPr>
          <p:cNvPr id="3" name="conclusion-body">
            <a:extLst xmlns:a="http://schemas.openxmlformats.org/drawingml/2006/main">
              <a:ext uri="{FF2B5EF4-FFF2-40B4-BE49-F238E27FC236}">
                <a16:creationId xmlns:a16="http://schemas.microsoft.com/office/drawing/2014/main" id="{FBBABF4A-24D0-49BE-A190-43EACF69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The group component delivered a cleaned OLTP database, a verified star-schema warehouse and analytical evidence for Green Grass Library.</a:t>
            </a:r>
          </a:p>
        </p:txBody>
      </p:sp>
      <p:sp>
        <p:nvSpPr>
          <p:cNvPr id="4" name="rule-72-465">
            <a:extLst xmlns:a="http://schemas.openxmlformats.org/drawingml/2006/main">
              <a:ext uri="{FF2B5EF4-FFF2-40B4-BE49-F238E27FC236}">
                <a16:creationId xmlns:a16="http://schemas.microsoft.com/office/drawing/2014/main" id="{24599BAC-46EF-4CC5-8497-AC99DEEA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solidFill>
              <a:srgbClr val="1677C8"/>
            </a:solidFill>
            <a:prstDash val="solid"/>
          </a:ln>
        </p:spPr>
      </p:sp>
      <p:sp>
        <p:nvSpPr>
          <p:cNvPr id="5" name="conclusion-points">
            <a:extLst xmlns:a="http://schemas.openxmlformats.org/drawingml/2006/main">
              <a:ext uri="{FF2B5EF4-FFF2-40B4-BE49-F238E27FC236}">
                <a16:creationId xmlns:a16="http://schemas.microsoft.com/office/drawing/2014/main" id="{5BFBCB58-D970-4DDC-8837-1C885E9D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14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Documented quality fixes make the load reproducible.</a:t>
            </a:r>
          </a:p>
          <a:p xmlns:a="http://schemas.openxmlformats.org/drawingml/2006/main">
            <a:pPr algn="l"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One FactLoan grain keeps analytics consistent.</a:t>
            </a:r>
          </a:p>
          <a:p xmlns:a="http://schemas.openxmlformats.org/drawingml/2006/main">
            <a:pPr algn="l"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Time, collection, member and operations queries reveal actionable patterns.</a:t>
            </a:r>
          </a:p>
        </p:txBody>
      </p:sp>
      <p:sp>
        <p:nvSpPr>
          <p:cNvPr id="6" name="conclusion-callout">
            <a:extLst xmlns:a="http://schemas.openxmlformats.org/drawingml/2006/main">
              <a:ext uri="{FF2B5EF4-FFF2-40B4-BE49-F238E27FC236}">
                <a16:creationId xmlns:a16="http://schemas.microsoft.com/office/drawing/2014/main" id="{9BB4A7F3-86CD-4EAA-8742-33B1F8BF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667000" cy="2857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D9EEFC"/>
          </a:solidFill>
          <a:ln xmlns:a="http://schemas.openxmlformats.org/drawingml/2006/main" w="0">
            <a:solidFill>
              <a:srgbClr val="D9EEFC"/>
            </a:solidFill>
            <a:prstDash val="solid"/>
          </a:ln>
        </p:spPr>
      </p:sp>
      <p:sp>
        <p:nvSpPr>
          <p:cNvPr id="7" name="conclusion-callout-head">
            <a:extLst xmlns:a="http://schemas.openxmlformats.org/drawingml/2006/main">
              <a:ext uri="{FF2B5EF4-FFF2-40B4-BE49-F238E27FC236}">
                <a16:creationId xmlns:a16="http://schemas.microsoft.com/office/drawing/2014/main" id="{5C085AA2-8100-488A-B76C-74052C10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76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Ready to demonstrate</a:t>
            </a:r>
          </a:p>
        </p:txBody>
      </p:sp>
      <p:sp>
        <p:nvSpPr>
          <p:cNvPr id="8" name="conclusion-callout-body">
            <a:extLst xmlns:a="http://schemas.openxmlformats.org/drawingml/2006/main">
              <a:ext uri="{FF2B5EF4-FFF2-40B4-BE49-F238E27FC236}">
                <a16:creationId xmlns:a16="http://schemas.microsoft.com/office/drawing/2014/main" id="{C9B77F40-6CEF-4B66-ACBE-AF010621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2095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OLTP setup</a:t>
            </a:r>
          </a:p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DW schema and ETL</a:t>
            </a:r>
          </a:p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Analytical queries</a:t>
            </a:r>
          </a:p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Evidence-based insights</a:t>
            </a:r>
          </a:p>
        </p:txBody>
      </p:sp>
      <p:sp>
        <p:nvSpPr>
          <p:cNvPr id="9" name="conclusion-footer">
            <a:extLst xmlns:a="http://schemas.openxmlformats.org/drawingml/2006/main">
              <a:ext uri="{FF2B5EF4-FFF2-40B4-BE49-F238E27FC236}">
                <a16:creationId xmlns:a16="http://schemas.microsoft.com/office/drawing/2014/main" id="{DB4F92E2-A397-45C1-BCE7-A3F0DC73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6274"/>
                </a:solidFill>
                <a:latin typeface="Arial"/>
                <a:ea typeface="Arial"/>
                <a:cs typeface="Arial"/>
              </a:rPr>
              <a:t>Green Grass Library | Group component (Tasks a–d)</a:t>
            </a:r>
          </a:p>
        </p:txBody>
      </p:sp>
    </p:spTree>
    <p:extLst>
      <p:ext uri="{BB962C8B-B14F-4D97-AF65-F5344CB8AC3E}">
        <p14:creationId xmlns:p14="http://schemas.microsoft.com/office/powerpoint/2010/main" val="3160918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2026-07-25T10:47:37.8370000Z</dcterms:created>
  <dcterms:modified xsi:type="dcterms:W3CDTF">2026-07-25T10:47:37.8370000Z</dcterms:modified>
</coreProperties>
</file>